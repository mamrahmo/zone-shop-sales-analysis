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1"/>
  </p:sldMasterIdLst>
  <p:sldIdLst>
    <p:sldId id="256" r:id="rId2"/>
    <p:sldId id="257" r:id="rId3"/>
    <p:sldId id="258" r:id="rId4"/>
    <p:sldId id="263" r:id="rId5"/>
    <p:sldId id="259" r:id="rId6"/>
    <p:sldId id="262" r:id="rId7"/>
    <p:sldId id="264" r:id="rId8"/>
    <p:sldId id="269" r:id="rId9"/>
    <p:sldId id="270" r:id="rId10"/>
    <p:sldId id="265" r:id="rId11"/>
    <p:sldId id="266" r:id="rId12"/>
    <p:sldId id="271" r:id="rId13"/>
    <p:sldId id="272" r:id="rId14"/>
    <p:sldId id="268" r:id="rId15"/>
    <p:sldId id="260" r:id="rId16"/>
    <p:sldId id="261"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2" d="100"/>
          <a:sy n="92" d="100"/>
        </p:scale>
        <p:origin x="466" y="8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1"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270422-1557-44CC-BF48-692E095D9D45}" type="doc">
      <dgm:prSet loTypeId="urn:microsoft.com/office/officeart/2005/8/layout/target3" loCatId="relationship" qsTypeId="urn:microsoft.com/office/officeart/2005/8/quickstyle/3d2" qsCatId="3D" csTypeId="urn:microsoft.com/office/officeart/2005/8/colors/accent0_3" csCatId="mainScheme" phldr="1"/>
      <dgm:spPr/>
      <dgm:t>
        <a:bodyPr/>
        <a:lstStyle/>
        <a:p>
          <a:endParaRPr lang="en-US"/>
        </a:p>
      </dgm:t>
    </dgm:pt>
    <dgm:pt modelId="{DC973A78-A556-4143-8764-C30FDC9ED68B}">
      <dgm:prSet custT="1"/>
      <dgm:spPr/>
      <dgm:t>
        <a:bodyPr/>
        <a:lstStyle/>
        <a:p>
          <a:r>
            <a:rPr lang="en-US" sz="4400" b="1" baseline="0" dirty="0"/>
            <a:t>Zone Store Analysis</a:t>
          </a:r>
          <a:endParaRPr lang="en-US" sz="4400" dirty="0"/>
        </a:p>
      </dgm:t>
      <dgm:extLst>
        <a:ext uri="{E40237B7-FDA0-4F09-8148-C483321AD2D9}">
          <dgm14:cNvPr xmlns:dgm14="http://schemas.microsoft.com/office/drawing/2010/diagram" id="0" name="">
            <a:hlinkClick xmlns:r="http://schemas.openxmlformats.org/officeDocument/2006/relationships" r:id="rId1" action="ppaction://hlinksldjump"/>
          </dgm14:cNvPr>
        </a:ext>
      </dgm:extLst>
    </dgm:pt>
    <dgm:pt modelId="{52529ECC-CC4B-4BB7-8A11-DF6B176AA79B}" type="parTrans" cxnId="{0C61E535-6A50-416E-9E98-ABCF8381DB04}">
      <dgm:prSet/>
      <dgm:spPr/>
      <dgm:t>
        <a:bodyPr/>
        <a:lstStyle/>
        <a:p>
          <a:endParaRPr lang="en-US"/>
        </a:p>
      </dgm:t>
    </dgm:pt>
    <dgm:pt modelId="{431CC1C6-286F-4BC9-8C3F-59017D31D794}" type="sibTrans" cxnId="{0C61E535-6A50-416E-9E98-ABCF8381DB04}">
      <dgm:prSet/>
      <dgm:spPr/>
      <dgm:t>
        <a:bodyPr/>
        <a:lstStyle/>
        <a:p>
          <a:endParaRPr lang="en-US"/>
        </a:p>
      </dgm:t>
    </dgm:pt>
    <dgm:pt modelId="{EBD99E80-7F09-47D6-B412-77C7904366C4}" type="pres">
      <dgm:prSet presAssocID="{9D270422-1557-44CC-BF48-692E095D9D45}" presName="Name0" presStyleCnt="0">
        <dgm:presLayoutVars>
          <dgm:chMax val="7"/>
          <dgm:dir/>
          <dgm:animLvl val="lvl"/>
          <dgm:resizeHandles val="exact"/>
        </dgm:presLayoutVars>
      </dgm:prSet>
      <dgm:spPr/>
    </dgm:pt>
    <dgm:pt modelId="{B7F25CE6-437B-40E9-B352-016A1240A608}" type="pres">
      <dgm:prSet presAssocID="{DC973A78-A556-4143-8764-C30FDC9ED68B}" presName="circle1" presStyleLbl="node1" presStyleIdx="0" presStyleCnt="1"/>
      <dgm:spPr/>
    </dgm:pt>
    <dgm:pt modelId="{716247F5-72E2-47AC-82D2-877746AB813E}" type="pres">
      <dgm:prSet presAssocID="{DC973A78-A556-4143-8764-C30FDC9ED68B}" presName="space" presStyleCnt="0"/>
      <dgm:spPr/>
    </dgm:pt>
    <dgm:pt modelId="{AFB9D96D-8E8C-4550-845B-50921E8AE9F5}" type="pres">
      <dgm:prSet presAssocID="{DC973A78-A556-4143-8764-C30FDC9ED68B}" presName="rect1" presStyleLbl="alignAcc1" presStyleIdx="0" presStyleCnt="1" custScaleX="100000"/>
      <dgm:spPr/>
    </dgm:pt>
    <dgm:pt modelId="{D381EF4B-3858-481E-B16E-2BFECED5E483}" type="pres">
      <dgm:prSet presAssocID="{DC973A78-A556-4143-8764-C30FDC9ED68B}" presName="rect1ParTxNoCh" presStyleLbl="alignAcc1" presStyleIdx="0" presStyleCnt="1">
        <dgm:presLayoutVars>
          <dgm:chMax val="1"/>
          <dgm:bulletEnabled val="1"/>
        </dgm:presLayoutVars>
      </dgm:prSet>
      <dgm:spPr/>
    </dgm:pt>
  </dgm:ptLst>
  <dgm:cxnLst>
    <dgm:cxn modelId="{0C61E535-6A50-416E-9E98-ABCF8381DB04}" srcId="{9D270422-1557-44CC-BF48-692E095D9D45}" destId="{DC973A78-A556-4143-8764-C30FDC9ED68B}" srcOrd="0" destOrd="0" parTransId="{52529ECC-CC4B-4BB7-8A11-DF6B176AA79B}" sibTransId="{431CC1C6-286F-4BC9-8C3F-59017D31D794}"/>
    <dgm:cxn modelId="{8C96F66E-7393-4EDA-B9B6-96CF85E51004}" type="presOf" srcId="{9D270422-1557-44CC-BF48-692E095D9D45}" destId="{EBD99E80-7F09-47D6-B412-77C7904366C4}" srcOrd="0" destOrd="0" presId="urn:microsoft.com/office/officeart/2005/8/layout/target3"/>
    <dgm:cxn modelId="{36DC0FA5-9EDB-418C-8704-CF0EAED08F82}" type="presOf" srcId="{DC973A78-A556-4143-8764-C30FDC9ED68B}" destId="{D381EF4B-3858-481E-B16E-2BFECED5E483}" srcOrd="1" destOrd="0" presId="urn:microsoft.com/office/officeart/2005/8/layout/target3"/>
    <dgm:cxn modelId="{107D0AF6-D090-401D-9923-3B93A75174A1}" type="presOf" srcId="{DC973A78-A556-4143-8764-C30FDC9ED68B}" destId="{AFB9D96D-8E8C-4550-845B-50921E8AE9F5}" srcOrd="0" destOrd="0" presId="urn:microsoft.com/office/officeart/2005/8/layout/target3"/>
    <dgm:cxn modelId="{64F5922E-58A2-4A4C-BB6E-ACC1CB62F34F}" type="presParOf" srcId="{EBD99E80-7F09-47D6-B412-77C7904366C4}" destId="{B7F25CE6-437B-40E9-B352-016A1240A608}" srcOrd="0" destOrd="0" presId="urn:microsoft.com/office/officeart/2005/8/layout/target3"/>
    <dgm:cxn modelId="{14C956DF-8DED-4267-9FBE-1461AB70C92E}" type="presParOf" srcId="{EBD99E80-7F09-47D6-B412-77C7904366C4}" destId="{716247F5-72E2-47AC-82D2-877746AB813E}" srcOrd="1" destOrd="0" presId="urn:microsoft.com/office/officeart/2005/8/layout/target3"/>
    <dgm:cxn modelId="{84E30153-D6B3-4E63-B2F3-487B6D6AE54B}" type="presParOf" srcId="{EBD99E80-7F09-47D6-B412-77C7904366C4}" destId="{AFB9D96D-8E8C-4550-845B-50921E8AE9F5}" srcOrd="2" destOrd="0" presId="urn:microsoft.com/office/officeart/2005/8/layout/target3"/>
    <dgm:cxn modelId="{70051884-4D26-4F34-8B3D-4C0BD94F1495}" type="presParOf" srcId="{EBD99E80-7F09-47D6-B412-77C7904366C4}" destId="{D381EF4B-3858-481E-B16E-2BFECED5E483}"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34E9195B-0171-426B-9CDB-07BCE8B54F43}"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021DAB3D-8331-46A6-A729-8611493F4CB1}">
      <dgm:prSet/>
      <dgm:spPr/>
      <dgm:t>
        <a:bodyPr/>
        <a:lstStyle/>
        <a:p>
          <a:r>
            <a:rPr lang="en-US"/>
            <a:t>Retail Performance &amp; Data Analytics Report</a:t>
          </a:r>
        </a:p>
      </dgm:t>
    </dgm:pt>
    <dgm:pt modelId="{F29DC2E7-AE5E-49CE-8806-F5CB9EC9FA52}" type="parTrans" cxnId="{CBA8F9BD-29DE-4BD8-9F1B-21226E735507}">
      <dgm:prSet/>
      <dgm:spPr/>
      <dgm:t>
        <a:bodyPr/>
        <a:lstStyle/>
        <a:p>
          <a:endParaRPr lang="en-US"/>
        </a:p>
      </dgm:t>
    </dgm:pt>
    <dgm:pt modelId="{E999CA22-6190-49CB-BC6C-D7ED2C6B3DFE}" type="sibTrans" cxnId="{CBA8F9BD-29DE-4BD8-9F1B-21226E735507}">
      <dgm:prSet/>
      <dgm:spPr/>
      <dgm:t>
        <a:bodyPr/>
        <a:lstStyle/>
        <a:p>
          <a:endParaRPr lang="en-US"/>
        </a:p>
      </dgm:t>
    </dgm:pt>
    <dgm:pt modelId="{3D6A388F-B94F-4568-8B18-E4DCA2B9C66D}" type="pres">
      <dgm:prSet presAssocID="{34E9195B-0171-426B-9CDB-07BCE8B54F43}" presName="linear" presStyleCnt="0">
        <dgm:presLayoutVars>
          <dgm:animLvl val="lvl"/>
          <dgm:resizeHandles val="exact"/>
        </dgm:presLayoutVars>
      </dgm:prSet>
      <dgm:spPr/>
    </dgm:pt>
    <dgm:pt modelId="{474BD78C-A114-43C3-9E96-94B15A30E34A}" type="pres">
      <dgm:prSet presAssocID="{021DAB3D-8331-46A6-A729-8611493F4CB1}" presName="parentText" presStyleLbl="node1" presStyleIdx="0" presStyleCnt="1">
        <dgm:presLayoutVars>
          <dgm:chMax val="0"/>
          <dgm:bulletEnabled val="1"/>
        </dgm:presLayoutVars>
      </dgm:prSet>
      <dgm:spPr/>
    </dgm:pt>
  </dgm:ptLst>
  <dgm:cxnLst>
    <dgm:cxn modelId="{1CDA5B48-73DE-4FB4-BBBD-0ECAB2CAA4EE}" type="presOf" srcId="{34E9195B-0171-426B-9CDB-07BCE8B54F43}" destId="{3D6A388F-B94F-4568-8B18-E4DCA2B9C66D}" srcOrd="0" destOrd="0" presId="urn:microsoft.com/office/officeart/2005/8/layout/vList2"/>
    <dgm:cxn modelId="{50D3AD7F-4D91-48B0-9CC7-F67192854D4C}" type="presOf" srcId="{021DAB3D-8331-46A6-A729-8611493F4CB1}" destId="{474BD78C-A114-43C3-9E96-94B15A30E34A}" srcOrd="0" destOrd="0" presId="urn:microsoft.com/office/officeart/2005/8/layout/vList2"/>
    <dgm:cxn modelId="{CBA8F9BD-29DE-4BD8-9F1B-21226E735507}" srcId="{34E9195B-0171-426B-9CDB-07BCE8B54F43}" destId="{021DAB3D-8331-46A6-A729-8611493F4CB1}" srcOrd="0" destOrd="0" parTransId="{F29DC2E7-AE5E-49CE-8806-F5CB9EC9FA52}" sibTransId="{E999CA22-6190-49CB-BC6C-D7ED2C6B3DFE}"/>
    <dgm:cxn modelId="{C2FDD493-634E-4D0C-922F-281AEBDE1A50}" type="presParOf" srcId="{3D6A388F-B94F-4568-8B18-E4DCA2B9C66D}" destId="{474BD78C-A114-43C3-9E96-94B15A30E34A}"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B56997-FCE0-4691-857D-C0DC07F78909}"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US"/>
        </a:p>
      </dgm:t>
    </dgm:pt>
    <dgm:pt modelId="{227225CF-8044-417B-B834-11E3AFF6AFEF}">
      <dgm:prSet/>
      <dgm:spPr/>
      <dgm:t>
        <a:bodyPr/>
        <a:lstStyle/>
        <a:p>
          <a:r>
            <a:rPr lang="en-US" dirty="0"/>
            <a:t>Mohamed Ahmed Mohamed Rahmo</a:t>
          </a:r>
        </a:p>
      </dgm:t>
    </dgm:pt>
    <dgm:pt modelId="{CEDECD6A-1D3F-4054-858A-EC282C3CF1C4}" type="parTrans" cxnId="{B8757110-88AA-4242-A985-D66AF1A9B8C5}">
      <dgm:prSet/>
      <dgm:spPr/>
      <dgm:t>
        <a:bodyPr/>
        <a:lstStyle/>
        <a:p>
          <a:endParaRPr lang="en-US"/>
        </a:p>
      </dgm:t>
    </dgm:pt>
    <dgm:pt modelId="{981AFB47-AD28-4822-83F7-6C0FF9F13ECF}" type="sibTrans" cxnId="{B8757110-88AA-4242-A985-D66AF1A9B8C5}">
      <dgm:prSet/>
      <dgm:spPr/>
      <dgm:t>
        <a:bodyPr/>
        <a:lstStyle/>
        <a:p>
          <a:endParaRPr lang="en-US"/>
        </a:p>
      </dgm:t>
    </dgm:pt>
    <dgm:pt modelId="{67C43260-9EED-4DE7-B763-30364F7F22C2}">
      <dgm:prSet/>
      <dgm:spPr/>
      <dgm:t>
        <a:bodyPr/>
        <a:lstStyle/>
        <a:p>
          <a:r>
            <a:rPr lang="en-US"/>
            <a:t>Sarah Obid</a:t>
          </a:r>
        </a:p>
      </dgm:t>
    </dgm:pt>
    <dgm:pt modelId="{7820C5ED-AB78-45B4-A570-8ADD283B4E29}" type="parTrans" cxnId="{D5EDD501-C7C4-4734-8DAD-4C2A12A69A0E}">
      <dgm:prSet/>
      <dgm:spPr/>
      <dgm:t>
        <a:bodyPr/>
        <a:lstStyle/>
        <a:p>
          <a:endParaRPr lang="en-US"/>
        </a:p>
      </dgm:t>
    </dgm:pt>
    <dgm:pt modelId="{86C69E46-C8C7-4B9B-A671-59FD1CC98166}" type="sibTrans" cxnId="{D5EDD501-C7C4-4734-8DAD-4C2A12A69A0E}">
      <dgm:prSet/>
      <dgm:spPr/>
      <dgm:t>
        <a:bodyPr/>
        <a:lstStyle/>
        <a:p>
          <a:endParaRPr lang="en-US"/>
        </a:p>
      </dgm:t>
    </dgm:pt>
    <dgm:pt modelId="{AF8D04CA-A6E4-461F-A8B5-531520805AD1}">
      <dgm:prSet/>
      <dgm:spPr/>
      <dgm:t>
        <a:bodyPr/>
        <a:lstStyle/>
        <a:p>
          <a:r>
            <a:rPr lang="en-US" dirty="0"/>
            <a:t>Zainab Mohamed</a:t>
          </a:r>
        </a:p>
      </dgm:t>
    </dgm:pt>
    <dgm:pt modelId="{F01130F8-FF77-4AD0-809B-EE5AECFD89C7}" type="parTrans" cxnId="{8A22EA68-6643-44C1-8611-4C7C901679D3}">
      <dgm:prSet/>
      <dgm:spPr/>
      <dgm:t>
        <a:bodyPr/>
        <a:lstStyle/>
        <a:p>
          <a:endParaRPr lang="en-US"/>
        </a:p>
      </dgm:t>
    </dgm:pt>
    <dgm:pt modelId="{E6AFE30D-14B9-416E-BD78-797E15D37CD5}" type="sibTrans" cxnId="{8A22EA68-6643-44C1-8611-4C7C901679D3}">
      <dgm:prSet/>
      <dgm:spPr/>
      <dgm:t>
        <a:bodyPr/>
        <a:lstStyle/>
        <a:p>
          <a:endParaRPr lang="en-US"/>
        </a:p>
      </dgm:t>
    </dgm:pt>
    <dgm:pt modelId="{7BB503DA-57B2-4081-BA3E-FF1426B8EC51}">
      <dgm:prSet/>
      <dgm:spPr/>
      <dgm:t>
        <a:bodyPr/>
        <a:lstStyle/>
        <a:p>
          <a:r>
            <a:rPr lang="en-US"/>
            <a:t>Mostafa Abdeen</a:t>
          </a:r>
        </a:p>
      </dgm:t>
    </dgm:pt>
    <dgm:pt modelId="{170481AF-A732-4F73-9EF6-494494385B3D}" type="parTrans" cxnId="{B2A5E2EC-0FC4-4EB8-ADF8-E5416A73159A}">
      <dgm:prSet/>
      <dgm:spPr/>
      <dgm:t>
        <a:bodyPr/>
        <a:lstStyle/>
        <a:p>
          <a:endParaRPr lang="en-US"/>
        </a:p>
      </dgm:t>
    </dgm:pt>
    <dgm:pt modelId="{EF36D04B-8B96-4471-BC58-76B2A21B9ED6}" type="sibTrans" cxnId="{B2A5E2EC-0FC4-4EB8-ADF8-E5416A73159A}">
      <dgm:prSet/>
      <dgm:spPr/>
      <dgm:t>
        <a:bodyPr/>
        <a:lstStyle/>
        <a:p>
          <a:endParaRPr lang="en-US"/>
        </a:p>
      </dgm:t>
    </dgm:pt>
    <dgm:pt modelId="{6E9F0490-C1E6-4CAD-9E16-E970965A5B32}">
      <dgm:prSet/>
      <dgm:spPr/>
      <dgm:t>
        <a:bodyPr/>
        <a:lstStyle/>
        <a:p>
          <a:r>
            <a:rPr lang="en-US"/>
            <a:t>Mohamed Khaled</a:t>
          </a:r>
        </a:p>
      </dgm:t>
    </dgm:pt>
    <dgm:pt modelId="{C5C14537-1820-442B-B383-09F65104F550}" type="parTrans" cxnId="{D198F026-63EA-4A67-A673-9F877C2C41B4}">
      <dgm:prSet/>
      <dgm:spPr/>
      <dgm:t>
        <a:bodyPr/>
        <a:lstStyle/>
        <a:p>
          <a:endParaRPr lang="en-US"/>
        </a:p>
      </dgm:t>
    </dgm:pt>
    <dgm:pt modelId="{D659A643-39A8-4E9B-914B-AADCCDF0AC3E}" type="sibTrans" cxnId="{D198F026-63EA-4A67-A673-9F877C2C41B4}">
      <dgm:prSet/>
      <dgm:spPr/>
      <dgm:t>
        <a:bodyPr/>
        <a:lstStyle/>
        <a:p>
          <a:endParaRPr lang="en-US"/>
        </a:p>
      </dgm:t>
    </dgm:pt>
    <dgm:pt modelId="{C857BE3E-F2AA-425C-B865-1F4CD1104258}" type="pres">
      <dgm:prSet presAssocID="{99B56997-FCE0-4691-857D-C0DC07F78909}" presName="linear" presStyleCnt="0">
        <dgm:presLayoutVars>
          <dgm:animLvl val="lvl"/>
          <dgm:resizeHandles val="exact"/>
        </dgm:presLayoutVars>
      </dgm:prSet>
      <dgm:spPr/>
    </dgm:pt>
    <dgm:pt modelId="{866EE99C-8D68-44EB-A7EF-44C2B7E28D12}" type="pres">
      <dgm:prSet presAssocID="{227225CF-8044-417B-B834-11E3AFF6AFEF}" presName="parentText" presStyleLbl="node1" presStyleIdx="0" presStyleCnt="5">
        <dgm:presLayoutVars>
          <dgm:chMax val="0"/>
          <dgm:bulletEnabled val="1"/>
        </dgm:presLayoutVars>
      </dgm:prSet>
      <dgm:spPr/>
    </dgm:pt>
    <dgm:pt modelId="{4E6E59C2-972C-4AFB-A900-B7E8A001EFC7}" type="pres">
      <dgm:prSet presAssocID="{981AFB47-AD28-4822-83F7-6C0FF9F13ECF}" presName="spacer" presStyleCnt="0"/>
      <dgm:spPr/>
    </dgm:pt>
    <dgm:pt modelId="{631329B6-04C2-44DB-A510-3CEF3B7F5ED3}" type="pres">
      <dgm:prSet presAssocID="{67C43260-9EED-4DE7-B763-30364F7F22C2}" presName="parentText" presStyleLbl="node1" presStyleIdx="1" presStyleCnt="5">
        <dgm:presLayoutVars>
          <dgm:chMax val="0"/>
          <dgm:bulletEnabled val="1"/>
        </dgm:presLayoutVars>
      </dgm:prSet>
      <dgm:spPr/>
    </dgm:pt>
    <dgm:pt modelId="{5EB6F74D-CB71-484A-A2CA-1C97E7A85A36}" type="pres">
      <dgm:prSet presAssocID="{86C69E46-C8C7-4B9B-A671-59FD1CC98166}" presName="spacer" presStyleCnt="0"/>
      <dgm:spPr/>
    </dgm:pt>
    <dgm:pt modelId="{2310A17A-0168-4F86-B5D8-B15BC0E8C62C}" type="pres">
      <dgm:prSet presAssocID="{AF8D04CA-A6E4-461F-A8B5-531520805AD1}" presName="parentText" presStyleLbl="node1" presStyleIdx="2" presStyleCnt="5">
        <dgm:presLayoutVars>
          <dgm:chMax val="0"/>
          <dgm:bulletEnabled val="1"/>
        </dgm:presLayoutVars>
      </dgm:prSet>
      <dgm:spPr/>
    </dgm:pt>
    <dgm:pt modelId="{40429E2B-651E-428B-B755-41496075258D}" type="pres">
      <dgm:prSet presAssocID="{E6AFE30D-14B9-416E-BD78-797E15D37CD5}" presName="spacer" presStyleCnt="0"/>
      <dgm:spPr/>
    </dgm:pt>
    <dgm:pt modelId="{E08D17F4-35E1-4E4C-AF80-D5CDA9578BC1}" type="pres">
      <dgm:prSet presAssocID="{7BB503DA-57B2-4081-BA3E-FF1426B8EC51}" presName="parentText" presStyleLbl="node1" presStyleIdx="3" presStyleCnt="5">
        <dgm:presLayoutVars>
          <dgm:chMax val="0"/>
          <dgm:bulletEnabled val="1"/>
        </dgm:presLayoutVars>
      </dgm:prSet>
      <dgm:spPr/>
    </dgm:pt>
    <dgm:pt modelId="{F33DA69E-E3D5-4C1D-A451-6A77F82E6E43}" type="pres">
      <dgm:prSet presAssocID="{EF36D04B-8B96-4471-BC58-76B2A21B9ED6}" presName="spacer" presStyleCnt="0"/>
      <dgm:spPr/>
    </dgm:pt>
    <dgm:pt modelId="{F5D28D87-4331-4433-9A48-4753C7F50EE7}" type="pres">
      <dgm:prSet presAssocID="{6E9F0490-C1E6-4CAD-9E16-E970965A5B32}" presName="parentText" presStyleLbl="node1" presStyleIdx="4" presStyleCnt="5">
        <dgm:presLayoutVars>
          <dgm:chMax val="0"/>
          <dgm:bulletEnabled val="1"/>
        </dgm:presLayoutVars>
      </dgm:prSet>
      <dgm:spPr/>
    </dgm:pt>
  </dgm:ptLst>
  <dgm:cxnLst>
    <dgm:cxn modelId="{D5EDD501-C7C4-4734-8DAD-4C2A12A69A0E}" srcId="{99B56997-FCE0-4691-857D-C0DC07F78909}" destId="{67C43260-9EED-4DE7-B763-30364F7F22C2}" srcOrd="1" destOrd="0" parTransId="{7820C5ED-AB78-45B4-A570-8ADD283B4E29}" sibTransId="{86C69E46-C8C7-4B9B-A671-59FD1CC98166}"/>
    <dgm:cxn modelId="{B8757110-88AA-4242-A985-D66AF1A9B8C5}" srcId="{99B56997-FCE0-4691-857D-C0DC07F78909}" destId="{227225CF-8044-417B-B834-11E3AFF6AFEF}" srcOrd="0" destOrd="0" parTransId="{CEDECD6A-1D3F-4054-858A-EC282C3CF1C4}" sibTransId="{981AFB47-AD28-4822-83F7-6C0FF9F13ECF}"/>
    <dgm:cxn modelId="{D198F026-63EA-4A67-A673-9F877C2C41B4}" srcId="{99B56997-FCE0-4691-857D-C0DC07F78909}" destId="{6E9F0490-C1E6-4CAD-9E16-E970965A5B32}" srcOrd="4" destOrd="0" parTransId="{C5C14537-1820-442B-B383-09F65104F550}" sibTransId="{D659A643-39A8-4E9B-914B-AADCCDF0AC3E}"/>
    <dgm:cxn modelId="{80053042-0C91-47FD-85D9-575DBEE0FEF5}" type="presOf" srcId="{227225CF-8044-417B-B834-11E3AFF6AFEF}" destId="{866EE99C-8D68-44EB-A7EF-44C2B7E28D12}" srcOrd="0" destOrd="0" presId="urn:microsoft.com/office/officeart/2005/8/layout/vList2"/>
    <dgm:cxn modelId="{9CB0AD45-D026-42EE-8FDC-C95A452F36C7}" type="presOf" srcId="{99B56997-FCE0-4691-857D-C0DC07F78909}" destId="{C857BE3E-F2AA-425C-B865-1F4CD1104258}" srcOrd="0" destOrd="0" presId="urn:microsoft.com/office/officeart/2005/8/layout/vList2"/>
    <dgm:cxn modelId="{8A22EA68-6643-44C1-8611-4C7C901679D3}" srcId="{99B56997-FCE0-4691-857D-C0DC07F78909}" destId="{AF8D04CA-A6E4-461F-A8B5-531520805AD1}" srcOrd="2" destOrd="0" parTransId="{F01130F8-FF77-4AD0-809B-EE5AECFD89C7}" sibTransId="{E6AFE30D-14B9-416E-BD78-797E15D37CD5}"/>
    <dgm:cxn modelId="{46ED604D-3161-4848-AE8B-B69A16366AD7}" type="presOf" srcId="{AF8D04CA-A6E4-461F-A8B5-531520805AD1}" destId="{2310A17A-0168-4F86-B5D8-B15BC0E8C62C}" srcOrd="0" destOrd="0" presId="urn:microsoft.com/office/officeart/2005/8/layout/vList2"/>
    <dgm:cxn modelId="{D8232453-E62B-49B7-9F91-076B1468A5BB}" type="presOf" srcId="{67C43260-9EED-4DE7-B763-30364F7F22C2}" destId="{631329B6-04C2-44DB-A510-3CEF3B7F5ED3}" srcOrd="0" destOrd="0" presId="urn:microsoft.com/office/officeart/2005/8/layout/vList2"/>
    <dgm:cxn modelId="{EF8A94D8-F609-40AF-A7C2-3CA29727A25D}" type="presOf" srcId="{7BB503DA-57B2-4081-BA3E-FF1426B8EC51}" destId="{E08D17F4-35E1-4E4C-AF80-D5CDA9578BC1}" srcOrd="0" destOrd="0" presId="urn:microsoft.com/office/officeart/2005/8/layout/vList2"/>
    <dgm:cxn modelId="{B2A5E2EC-0FC4-4EB8-ADF8-E5416A73159A}" srcId="{99B56997-FCE0-4691-857D-C0DC07F78909}" destId="{7BB503DA-57B2-4081-BA3E-FF1426B8EC51}" srcOrd="3" destOrd="0" parTransId="{170481AF-A732-4F73-9EF6-494494385B3D}" sibTransId="{EF36D04B-8B96-4471-BC58-76B2A21B9ED6}"/>
    <dgm:cxn modelId="{C4B740F6-191C-4122-B7FB-A312FDEDFB41}" type="presOf" srcId="{6E9F0490-C1E6-4CAD-9E16-E970965A5B32}" destId="{F5D28D87-4331-4433-9A48-4753C7F50EE7}" srcOrd="0" destOrd="0" presId="urn:microsoft.com/office/officeart/2005/8/layout/vList2"/>
    <dgm:cxn modelId="{AF64B42D-AE37-4EC8-884A-CECA9BB0E2E0}" type="presParOf" srcId="{C857BE3E-F2AA-425C-B865-1F4CD1104258}" destId="{866EE99C-8D68-44EB-A7EF-44C2B7E28D12}" srcOrd="0" destOrd="0" presId="urn:microsoft.com/office/officeart/2005/8/layout/vList2"/>
    <dgm:cxn modelId="{E3630D2E-BBC5-4EDD-B266-DA51839CE473}" type="presParOf" srcId="{C857BE3E-F2AA-425C-B865-1F4CD1104258}" destId="{4E6E59C2-972C-4AFB-A900-B7E8A001EFC7}" srcOrd="1" destOrd="0" presId="urn:microsoft.com/office/officeart/2005/8/layout/vList2"/>
    <dgm:cxn modelId="{13D927A5-0F42-4D2E-A9AF-D6F94BA977A3}" type="presParOf" srcId="{C857BE3E-F2AA-425C-B865-1F4CD1104258}" destId="{631329B6-04C2-44DB-A510-3CEF3B7F5ED3}" srcOrd="2" destOrd="0" presId="urn:microsoft.com/office/officeart/2005/8/layout/vList2"/>
    <dgm:cxn modelId="{54DEAE58-6544-4A76-8344-CF5A59E36827}" type="presParOf" srcId="{C857BE3E-F2AA-425C-B865-1F4CD1104258}" destId="{5EB6F74D-CB71-484A-A2CA-1C97E7A85A36}" srcOrd="3" destOrd="0" presId="urn:microsoft.com/office/officeart/2005/8/layout/vList2"/>
    <dgm:cxn modelId="{A9880133-B371-4551-95DC-6ECA9D7A7A98}" type="presParOf" srcId="{C857BE3E-F2AA-425C-B865-1F4CD1104258}" destId="{2310A17A-0168-4F86-B5D8-B15BC0E8C62C}" srcOrd="4" destOrd="0" presId="urn:microsoft.com/office/officeart/2005/8/layout/vList2"/>
    <dgm:cxn modelId="{3F4895AA-C192-4E65-92F6-46E4620E9851}" type="presParOf" srcId="{C857BE3E-F2AA-425C-B865-1F4CD1104258}" destId="{40429E2B-651E-428B-B755-41496075258D}" srcOrd="5" destOrd="0" presId="urn:microsoft.com/office/officeart/2005/8/layout/vList2"/>
    <dgm:cxn modelId="{B0F18973-5150-4901-85C8-4AC0B428AC73}" type="presParOf" srcId="{C857BE3E-F2AA-425C-B865-1F4CD1104258}" destId="{E08D17F4-35E1-4E4C-AF80-D5CDA9578BC1}" srcOrd="6" destOrd="0" presId="urn:microsoft.com/office/officeart/2005/8/layout/vList2"/>
    <dgm:cxn modelId="{D38387F2-7544-46B3-A301-D222B4B0F7E2}" type="presParOf" srcId="{C857BE3E-F2AA-425C-B865-1F4CD1104258}" destId="{F33DA69E-E3D5-4C1D-A451-6A77F82E6E43}" srcOrd="7" destOrd="0" presId="urn:microsoft.com/office/officeart/2005/8/layout/vList2"/>
    <dgm:cxn modelId="{CA7A8DDE-C228-4378-A600-BA1DA61E758C}" type="presParOf" srcId="{C857BE3E-F2AA-425C-B865-1F4CD1104258}" destId="{F5D28D87-4331-4433-9A48-4753C7F50EE7}" srcOrd="8" destOrd="0" presId="urn:microsoft.com/office/officeart/2005/8/layout/vList2"/>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F25CE6-437B-40E9-B352-016A1240A608}">
      <dsp:nvSpPr>
        <dsp:cNvPr id="0" name=""/>
        <dsp:cNvSpPr/>
      </dsp:nvSpPr>
      <dsp:spPr>
        <a:xfrm>
          <a:off x="0" y="0"/>
          <a:ext cx="1463675" cy="1463675"/>
        </a:xfrm>
        <a:prstGeom prst="pie">
          <a:avLst>
            <a:gd name="adj1" fmla="val 5400000"/>
            <a:gd name="adj2" fmla="val 16200000"/>
          </a:avLst>
        </a:prstGeom>
        <a:gradFill rotWithShape="0">
          <a:gsLst>
            <a:gs pos="0">
              <a:schemeClr val="dk2">
                <a:hueOff val="0"/>
                <a:satOff val="0"/>
                <a:lumOff val="0"/>
                <a:alphaOff val="0"/>
                <a:tint val="100000"/>
                <a:shade val="85000"/>
                <a:satMod val="100000"/>
                <a:lumMod val="100000"/>
              </a:schemeClr>
            </a:gs>
            <a:gs pos="100000">
              <a:schemeClr val="dk2">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FB9D96D-8E8C-4550-845B-50921E8AE9F5}">
      <dsp:nvSpPr>
        <dsp:cNvPr id="0" name=""/>
        <dsp:cNvSpPr/>
      </dsp:nvSpPr>
      <dsp:spPr>
        <a:xfrm>
          <a:off x="731837" y="0"/>
          <a:ext cx="5097462" cy="1463675"/>
        </a:xfrm>
        <a:prstGeom prst="rect">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a:outerShdw blurRad="50800" dist="12700" dir="5400000" algn="ctr" rotWithShape="0">
            <a:srgbClr val="000000">
              <a:alpha val="50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kern="1200" baseline="0" dirty="0"/>
            <a:t>Zone Store Analysis</a:t>
          </a:r>
          <a:endParaRPr lang="en-US" sz="4400" kern="1200" dirty="0"/>
        </a:p>
      </dsp:txBody>
      <dsp:txXfrm>
        <a:off x="731837" y="0"/>
        <a:ext cx="5097462" cy="14636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4BD78C-A114-43C3-9E96-94B15A30E34A}">
      <dsp:nvSpPr>
        <dsp:cNvPr id="0" name=""/>
        <dsp:cNvSpPr/>
      </dsp:nvSpPr>
      <dsp:spPr>
        <a:xfrm>
          <a:off x="0" y="68590"/>
          <a:ext cx="2400300" cy="689129"/>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Retail Performance &amp; Data Analytics Report</a:t>
          </a:r>
        </a:p>
      </dsp:txBody>
      <dsp:txXfrm>
        <a:off x="33641" y="102231"/>
        <a:ext cx="2333018" cy="6218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6EE99C-8D68-44EB-A7EF-44C2B7E28D12}">
      <dsp:nvSpPr>
        <dsp:cNvPr id="0" name=""/>
        <dsp:cNvSpPr/>
      </dsp:nvSpPr>
      <dsp:spPr>
        <a:xfrm>
          <a:off x="0" y="20506"/>
          <a:ext cx="7453189" cy="433485"/>
        </a:xfrm>
        <a:prstGeom prst="roundRect">
          <a:avLst/>
        </a:prstGeom>
        <a:gradFill rotWithShape="0">
          <a:gsLst>
            <a:gs pos="0">
              <a:schemeClr val="accent1">
                <a:hueOff val="0"/>
                <a:satOff val="0"/>
                <a:lumOff val="0"/>
                <a:alphaOff val="0"/>
                <a:tint val="83000"/>
                <a:satMod val="100000"/>
                <a:lumMod val="100000"/>
              </a:schemeClr>
            </a:gs>
            <a:gs pos="100000">
              <a:schemeClr val="accent1">
                <a:hueOff val="0"/>
                <a:satOff val="0"/>
                <a:lumOff val="0"/>
                <a:alphaOff val="0"/>
                <a:tint val="61000"/>
                <a:satMod val="150000"/>
                <a:lumMod val="10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Mohamed Ahmed Mohamed Rahmo</a:t>
          </a:r>
        </a:p>
      </dsp:txBody>
      <dsp:txXfrm>
        <a:off x="21161" y="41667"/>
        <a:ext cx="7410867" cy="391163"/>
      </dsp:txXfrm>
    </dsp:sp>
    <dsp:sp modelId="{631329B6-04C2-44DB-A510-3CEF3B7F5ED3}">
      <dsp:nvSpPr>
        <dsp:cNvPr id="0" name=""/>
        <dsp:cNvSpPr/>
      </dsp:nvSpPr>
      <dsp:spPr>
        <a:xfrm>
          <a:off x="0" y="508711"/>
          <a:ext cx="7453189" cy="433485"/>
        </a:xfrm>
        <a:prstGeom prst="roundRect">
          <a:avLst/>
        </a:prstGeom>
        <a:gradFill rotWithShape="0">
          <a:gsLst>
            <a:gs pos="0">
              <a:schemeClr val="accent1">
                <a:hueOff val="0"/>
                <a:satOff val="0"/>
                <a:lumOff val="0"/>
                <a:alphaOff val="0"/>
                <a:tint val="83000"/>
                <a:satMod val="100000"/>
                <a:lumMod val="100000"/>
              </a:schemeClr>
            </a:gs>
            <a:gs pos="100000">
              <a:schemeClr val="accent1">
                <a:hueOff val="0"/>
                <a:satOff val="0"/>
                <a:lumOff val="0"/>
                <a:alphaOff val="0"/>
                <a:tint val="61000"/>
                <a:satMod val="150000"/>
                <a:lumMod val="10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Sarah Obid</a:t>
          </a:r>
        </a:p>
      </dsp:txBody>
      <dsp:txXfrm>
        <a:off x="21161" y="529872"/>
        <a:ext cx="7410867" cy="391163"/>
      </dsp:txXfrm>
    </dsp:sp>
    <dsp:sp modelId="{2310A17A-0168-4F86-B5D8-B15BC0E8C62C}">
      <dsp:nvSpPr>
        <dsp:cNvPr id="0" name=""/>
        <dsp:cNvSpPr/>
      </dsp:nvSpPr>
      <dsp:spPr>
        <a:xfrm>
          <a:off x="0" y="996916"/>
          <a:ext cx="7453189" cy="433485"/>
        </a:xfrm>
        <a:prstGeom prst="roundRect">
          <a:avLst/>
        </a:prstGeom>
        <a:gradFill rotWithShape="0">
          <a:gsLst>
            <a:gs pos="0">
              <a:schemeClr val="accent1">
                <a:hueOff val="0"/>
                <a:satOff val="0"/>
                <a:lumOff val="0"/>
                <a:alphaOff val="0"/>
                <a:tint val="83000"/>
                <a:satMod val="100000"/>
                <a:lumMod val="100000"/>
              </a:schemeClr>
            </a:gs>
            <a:gs pos="100000">
              <a:schemeClr val="accent1">
                <a:hueOff val="0"/>
                <a:satOff val="0"/>
                <a:lumOff val="0"/>
                <a:alphaOff val="0"/>
                <a:tint val="61000"/>
                <a:satMod val="150000"/>
                <a:lumMod val="10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Zainab Mohamed</a:t>
          </a:r>
        </a:p>
      </dsp:txBody>
      <dsp:txXfrm>
        <a:off x="21161" y="1018077"/>
        <a:ext cx="7410867" cy="391163"/>
      </dsp:txXfrm>
    </dsp:sp>
    <dsp:sp modelId="{E08D17F4-35E1-4E4C-AF80-D5CDA9578BC1}">
      <dsp:nvSpPr>
        <dsp:cNvPr id="0" name=""/>
        <dsp:cNvSpPr/>
      </dsp:nvSpPr>
      <dsp:spPr>
        <a:xfrm>
          <a:off x="0" y="1485121"/>
          <a:ext cx="7453189" cy="433485"/>
        </a:xfrm>
        <a:prstGeom prst="roundRect">
          <a:avLst/>
        </a:prstGeom>
        <a:gradFill rotWithShape="0">
          <a:gsLst>
            <a:gs pos="0">
              <a:schemeClr val="accent1">
                <a:hueOff val="0"/>
                <a:satOff val="0"/>
                <a:lumOff val="0"/>
                <a:alphaOff val="0"/>
                <a:tint val="83000"/>
                <a:satMod val="100000"/>
                <a:lumMod val="100000"/>
              </a:schemeClr>
            </a:gs>
            <a:gs pos="100000">
              <a:schemeClr val="accent1">
                <a:hueOff val="0"/>
                <a:satOff val="0"/>
                <a:lumOff val="0"/>
                <a:alphaOff val="0"/>
                <a:tint val="61000"/>
                <a:satMod val="150000"/>
                <a:lumMod val="10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Mostafa Abdeen</a:t>
          </a:r>
        </a:p>
      </dsp:txBody>
      <dsp:txXfrm>
        <a:off x="21161" y="1506282"/>
        <a:ext cx="7410867" cy="391163"/>
      </dsp:txXfrm>
    </dsp:sp>
    <dsp:sp modelId="{F5D28D87-4331-4433-9A48-4753C7F50EE7}">
      <dsp:nvSpPr>
        <dsp:cNvPr id="0" name=""/>
        <dsp:cNvSpPr/>
      </dsp:nvSpPr>
      <dsp:spPr>
        <a:xfrm>
          <a:off x="0" y="1973326"/>
          <a:ext cx="7453189" cy="433485"/>
        </a:xfrm>
        <a:prstGeom prst="roundRect">
          <a:avLst/>
        </a:prstGeom>
        <a:gradFill rotWithShape="0">
          <a:gsLst>
            <a:gs pos="0">
              <a:schemeClr val="accent1">
                <a:hueOff val="0"/>
                <a:satOff val="0"/>
                <a:lumOff val="0"/>
                <a:alphaOff val="0"/>
                <a:tint val="83000"/>
                <a:satMod val="100000"/>
                <a:lumMod val="100000"/>
              </a:schemeClr>
            </a:gs>
            <a:gs pos="100000">
              <a:schemeClr val="accent1">
                <a:hueOff val="0"/>
                <a:satOff val="0"/>
                <a:lumOff val="0"/>
                <a:alphaOff val="0"/>
                <a:tint val="61000"/>
                <a:satMod val="150000"/>
                <a:lumMod val="10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Mohamed Khaled</a:t>
          </a:r>
        </a:p>
      </dsp:txBody>
      <dsp:txXfrm>
        <a:off x="21161" y="1994487"/>
        <a:ext cx="7410867" cy="391163"/>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4"/>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3" y="4"/>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0554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8783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4"/>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3" y="4"/>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3524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1945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6152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97926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09319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2232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102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45118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2"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1458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8"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9"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BCAD085-E8A6-8845-BD4E-CB4CCA059FC4}" type="datetimeFigureOut">
              <a:rPr lang="en-US" smtClean="0"/>
              <a:t>5/13/2026</a:t>
            </a:fld>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1FF6DA9-008F-8B48-92A6-B652298478BF}"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5895911"/>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image" Target="../media/image3.png"/><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microsoft.com/office/2007/relationships/hdphoto" Target="../media/hdphoto1.wdp"/><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slide" Target="slide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image" Target="../media/image6.png"/><Relationship Id="rId7" Type="http://schemas.openxmlformats.org/officeDocument/2006/relationships/slide" Target="slide14.xml"/><Relationship Id="rId12" Type="http://schemas.openxmlformats.org/officeDocument/2006/relationships/slide" Target="slide4.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12.xml"/><Relationship Id="rId5" Type="http://schemas.openxmlformats.org/officeDocument/2006/relationships/image" Target="../media/image8.png"/><Relationship Id="rId10" Type="http://schemas.openxmlformats.org/officeDocument/2006/relationships/slide" Target="slide7.xml"/><Relationship Id="rId4" Type="http://schemas.openxmlformats.org/officeDocument/2006/relationships/image" Target="../media/image7.png"/><Relationship Id="rId9" Type="http://schemas.openxmlformats.org/officeDocument/2006/relationships/slide" Target="slide11.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0.png"/><Relationship Id="rId1" Type="http://schemas.openxmlformats.org/officeDocument/2006/relationships/slideLayout" Target="../slideLayouts/slideLayout8.xml"/><Relationship Id="rId5" Type="http://schemas.openxmlformats.org/officeDocument/2006/relationships/slide" Target="slide9.xml"/><Relationship Id="rId4" Type="http://schemas.openxmlformats.org/officeDocument/2006/relationships/slide" Target="slide8.xml"/></Relationships>
</file>

<file path=ppt/slides/_rels/slide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11.png"/><Relationship Id="rId1" Type="http://schemas.openxmlformats.org/officeDocument/2006/relationships/slideLayout" Target="../slideLayouts/slideLayout8.xml"/><Relationship Id="rId5" Type="http://schemas.openxmlformats.org/officeDocument/2006/relationships/slide" Target="slide3.xml"/><Relationship Id="rId4" Type="http://schemas.openxmlformats.org/officeDocument/2006/relationships/slide" Target="slide9.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2.png"/><Relationship Id="rId1" Type="http://schemas.openxmlformats.org/officeDocument/2006/relationships/slideLayout" Target="../slideLayouts/slideLayout8.xml"/><Relationship Id="rId5" Type="http://schemas.openxmlformats.org/officeDocument/2006/relationships/slide" Target="slide3.xml"/><Relationship Id="rId4" Type="http://schemas.openxmlformats.org/officeDocument/2006/relationships/slide" Target="slide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 Target="slide3.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5.png"/><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slide" Target="slide3.xml"/><Relationship Id="rId1" Type="http://schemas.openxmlformats.org/officeDocument/2006/relationships/slideLayout" Target="../slideLayouts/slideLayout5.xml"/><Relationship Id="rId5" Type="http://schemas.openxmlformats.org/officeDocument/2006/relationships/image" Target="../media/image18.jpeg"/><Relationship Id="rId4" Type="http://schemas.openxmlformats.org/officeDocument/2006/relationships/slide" Target="slide13.xml"/></Relationships>
</file>

<file path=ppt/slides/_rels/slide1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9.jpeg"/><Relationship Id="rId1" Type="http://schemas.openxmlformats.org/officeDocument/2006/relationships/slideLayout" Target="../slideLayouts/slideLayout8.xml"/><Relationship Id="rId6" Type="http://schemas.openxmlformats.org/officeDocument/2006/relationships/image" Target="../media/image20.jpeg"/><Relationship Id="rId5" Type="http://schemas.openxmlformats.org/officeDocument/2006/relationships/slide" Target="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slide" Target="slide15.xml"/><Relationship Id="rId2" Type="http://schemas.openxmlformats.org/officeDocument/2006/relationships/slide" Target="slide3.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hyperlink" Target="file:///C:\Users\LENOVO\OneDrive\Desktop\Zone%20Shop%20Sales%20Analysis.pbix" TargetMode="Externa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16.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onfetti">
          <a:fgClr>
            <a:schemeClr val="accent3">
              <a:lumMod val="20000"/>
              <a:lumOff val="80000"/>
            </a:schemeClr>
          </a:fgClr>
          <a:bgClr>
            <a:schemeClr val="bg1"/>
          </a:bgClr>
        </a:pattFill>
        <a:effectLst/>
      </p:bgPr>
    </p:bg>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3814B810-132C-419A-915F-030CAAB81CE0}"/>
              </a:ext>
            </a:extLst>
          </p:cNvPr>
          <p:cNvGraphicFramePr/>
          <p:nvPr>
            <p:extLst>
              <p:ext uri="{D42A27DB-BD31-4B8C-83A1-F6EECF244321}">
                <p14:modId xmlns:p14="http://schemas.microsoft.com/office/powerpoint/2010/main" val="160445361"/>
              </p:ext>
            </p:extLst>
          </p:nvPr>
        </p:nvGraphicFramePr>
        <p:xfrm>
          <a:off x="490451" y="4959353"/>
          <a:ext cx="5829300" cy="1463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a:extLst>
              <a:ext uri="{FF2B5EF4-FFF2-40B4-BE49-F238E27FC236}">
                <a16:creationId xmlns:a16="http://schemas.microsoft.com/office/drawing/2014/main" id="{E923DE03-2858-4E8A-95CE-06BBABB441FB}"/>
              </a:ext>
            </a:extLst>
          </p:cNvPr>
          <p:cNvGraphicFramePr/>
          <p:nvPr>
            <p:extLst>
              <p:ext uri="{D42A27DB-BD31-4B8C-83A1-F6EECF244321}">
                <p14:modId xmlns:p14="http://schemas.microsoft.com/office/powerpoint/2010/main" val="3583630894"/>
              </p:ext>
            </p:extLst>
          </p:nvPr>
        </p:nvGraphicFramePr>
        <p:xfrm>
          <a:off x="6486006" y="5278031"/>
          <a:ext cx="2400300" cy="82631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5" name="Picture 4">
            <a:extLst>
              <a:ext uri="{FF2B5EF4-FFF2-40B4-BE49-F238E27FC236}">
                <a16:creationId xmlns:a16="http://schemas.microsoft.com/office/drawing/2014/main" id="{CBE0586C-5BB6-4FBC-884D-FB302EB7609C}"/>
              </a:ext>
            </a:extLst>
          </p:cNvPr>
          <p:cNvPicPr>
            <a:picLocks noChangeAspect="1"/>
          </p:cNvPicPr>
          <p:nvPr/>
        </p:nvPicPr>
        <p:blipFill>
          <a:blip r:embed="rId12"/>
          <a:stretch>
            <a:fillRect/>
          </a:stretch>
        </p:blipFill>
        <p:spPr>
          <a:xfrm>
            <a:off x="0" y="-28286"/>
            <a:ext cx="9144000" cy="4758228"/>
          </a:xfrm>
          <a:prstGeom prst="rect">
            <a:avLst/>
          </a:prstGeom>
        </p:spPr>
      </p:pic>
      <p:pic>
        <p:nvPicPr>
          <p:cNvPr id="9" name="Picture 8">
            <a:extLst>
              <a:ext uri="{FF2B5EF4-FFF2-40B4-BE49-F238E27FC236}">
                <a16:creationId xmlns:a16="http://schemas.microsoft.com/office/drawing/2014/main" id="{F47D54AC-A0AB-4816-BC13-B86288698504}"/>
              </a:ext>
            </a:extLst>
          </p:cNvPr>
          <p:cNvPicPr>
            <a:picLocks noChangeAspect="1"/>
          </p:cNvPicPr>
          <p:nvPr/>
        </p:nvPicPr>
        <p:blipFill>
          <a:blip r:embed="rId13">
            <a:alphaModFix/>
          </a:blip>
          <a:stretch>
            <a:fillRect/>
          </a:stretch>
        </p:blipFill>
        <p:spPr>
          <a:xfrm>
            <a:off x="7686156" y="109394"/>
            <a:ext cx="1343026" cy="651164"/>
          </a:xfrm>
          <a:prstGeom prst="rect">
            <a:avLst/>
          </a:prstGeom>
        </p:spPr>
      </p:pic>
      <p:pic>
        <p:nvPicPr>
          <p:cNvPr id="13" name="Picture 12">
            <a:extLst>
              <a:ext uri="{FF2B5EF4-FFF2-40B4-BE49-F238E27FC236}">
                <a16:creationId xmlns:a16="http://schemas.microsoft.com/office/drawing/2014/main" id="{5DD01807-6DAB-46B1-9A28-6B312D6AAC1A}"/>
              </a:ext>
            </a:extLst>
          </p:cNvPr>
          <p:cNvPicPr>
            <a:picLocks noChangeAspect="1"/>
          </p:cNvPicPr>
          <p:nvPr/>
        </p:nvPicPr>
        <p:blipFill>
          <a:blip r:embed="rId14">
            <a:duotone>
              <a:prstClr val="black"/>
              <a:schemeClr val="accent2">
                <a:tint val="45000"/>
                <a:satMod val="400000"/>
              </a:schemeClr>
            </a:duotone>
            <a:extLst>
              <a:ext uri="{BEBA8EAE-BF5A-486C-A8C5-ECC9F3942E4B}">
                <a14:imgProps xmlns:a14="http://schemas.microsoft.com/office/drawing/2010/main">
                  <a14:imgLayer r:embed="rId15">
                    <a14:imgEffect>
                      <a14:saturation sat="324000"/>
                    </a14:imgEffect>
                  </a14:imgLayer>
                </a14:imgProps>
              </a:ext>
            </a:extLst>
          </a:blip>
          <a:stretch>
            <a:fillRect/>
          </a:stretch>
        </p:blipFill>
        <p:spPr>
          <a:xfrm>
            <a:off x="6602123" y="-187201"/>
            <a:ext cx="1343026" cy="12443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5" y="585216"/>
            <a:ext cx="7453192" cy="1499616"/>
          </a:xfrm>
          <a:noFill/>
          <a:ln cap="rnd" cmpd="sng">
            <a:gradFill>
              <a:gsLst>
                <a:gs pos="0">
                  <a:srgbClr val="0070C0"/>
                </a:gs>
                <a:gs pos="37000">
                  <a:schemeClr val="accent1">
                    <a:lumMod val="45000"/>
                    <a:lumOff val="55000"/>
                  </a:schemeClr>
                </a:gs>
                <a:gs pos="71000">
                  <a:schemeClr val="accent1">
                    <a:lumMod val="45000"/>
                    <a:lumOff val="55000"/>
                  </a:schemeClr>
                </a:gs>
                <a:gs pos="100000">
                  <a:schemeClr val="accent1">
                    <a:lumMod val="20000"/>
                    <a:lumOff val="80000"/>
                  </a:schemeClr>
                </a:gs>
              </a:gsLst>
              <a:lin ang="5400000" scaled="1"/>
            </a:gradFill>
            <a:extLst>
              <a:ext uri="{C807C97D-BFC1-408E-A445-0C87EB9F89A2}">
                <ask:lineSketchStyleProps xmlns:ask="http://schemas.microsoft.com/office/drawing/2018/sketchyshapes" sd="1219033472">
                  <a:custGeom>
                    <a:avLst/>
                    <a:gdLst>
                      <a:gd name="connsiteX0" fmla="*/ 0 w 7290054"/>
                      <a:gd name="connsiteY0" fmla="*/ 0 h 1499616"/>
                      <a:gd name="connsiteX1" fmla="*/ 7290054 w 7290054"/>
                      <a:gd name="connsiteY1" fmla="*/ 0 h 1499616"/>
                      <a:gd name="connsiteX2" fmla="*/ 7290054 w 7290054"/>
                      <a:gd name="connsiteY2" fmla="*/ 1499616 h 1499616"/>
                      <a:gd name="connsiteX3" fmla="*/ 0 w 7290054"/>
                      <a:gd name="connsiteY3" fmla="*/ 1499616 h 1499616"/>
                      <a:gd name="connsiteX4" fmla="*/ 0 w 7290054"/>
                      <a:gd name="connsiteY4" fmla="*/ 0 h 1499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90054" h="1499616" fill="none" extrusionOk="0">
                        <a:moveTo>
                          <a:pt x="0" y="0"/>
                        </a:moveTo>
                        <a:cubicBezTo>
                          <a:pt x="3197478" y="-49533"/>
                          <a:pt x="4799464" y="-14809"/>
                          <a:pt x="7290054" y="0"/>
                        </a:cubicBezTo>
                        <a:cubicBezTo>
                          <a:pt x="7265749" y="567507"/>
                          <a:pt x="7186029" y="775241"/>
                          <a:pt x="7290054" y="1499616"/>
                        </a:cubicBezTo>
                        <a:cubicBezTo>
                          <a:pt x="6559447" y="1451385"/>
                          <a:pt x="1157352" y="1584071"/>
                          <a:pt x="0" y="1499616"/>
                        </a:cubicBezTo>
                        <a:cubicBezTo>
                          <a:pt x="7587" y="1022074"/>
                          <a:pt x="-52095" y="243945"/>
                          <a:pt x="0" y="0"/>
                        </a:cubicBezTo>
                        <a:close/>
                      </a:path>
                      <a:path w="7290054" h="1499616" stroke="0" extrusionOk="0">
                        <a:moveTo>
                          <a:pt x="0" y="0"/>
                        </a:moveTo>
                        <a:cubicBezTo>
                          <a:pt x="3346287" y="118645"/>
                          <a:pt x="4090756" y="116012"/>
                          <a:pt x="7290054" y="0"/>
                        </a:cubicBezTo>
                        <a:cubicBezTo>
                          <a:pt x="7320936" y="701776"/>
                          <a:pt x="7165894" y="827625"/>
                          <a:pt x="7290054" y="1499616"/>
                        </a:cubicBezTo>
                        <a:cubicBezTo>
                          <a:pt x="4044685" y="1634216"/>
                          <a:pt x="2934912" y="1342420"/>
                          <a:pt x="0" y="1499616"/>
                        </a:cubicBezTo>
                        <a:cubicBezTo>
                          <a:pt x="27543" y="1101482"/>
                          <a:pt x="94036" y="719063"/>
                          <a:pt x="0" y="0"/>
                        </a:cubicBezTo>
                        <a:close/>
                      </a:path>
                    </a:pathLst>
                  </a:custGeom>
                  <ask:type>
                    <ask:lineSketchNone/>
                  </ask:type>
                </ask:lineSketchStyleProps>
              </a:ext>
            </a:extLst>
          </a:ln>
        </p:spPr>
        <p:txBody>
          <a:bodyPr vert="horz" lIns="91440" tIns="45720" rIns="91440" bIns="45720" rtlCol="0" anchor="ctr">
            <a:normAutofit/>
          </a:bodyPr>
          <a:lstStyle/>
          <a:p>
            <a:pPr algn="just"/>
            <a:r>
              <a:rPr dirty="0"/>
              <a:t>Project Team Members</a:t>
            </a:r>
          </a:p>
        </p:txBody>
      </p:sp>
      <p:graphicFrame>
        <p:nvGraphicFramePr>
          <p:cNvPr id="5" name="Content Placeholder 4">
            <a:extLst>
              <a:ext uri="{FF2B5EF4-FFF2-40B4-BE49-F238E27FC236}">
                <a16:creationId xmlns:a16="http://schemas.microsoft.com/office/drawing/2014/main" id="{44CAA104-DF0B-4EBA-8642-7DD22C5FBA45}"/>
              </a:ext>
            </a:extLst>
          </p:cNvPr>
          <p:cNvGraphicFramePr>
            <a:graphicFrameLocks noGrp="1"/>
          </p:cNvGraphicFramePr>
          <p:nvPr>
            <p:ph idx="1"/>
            <p:extLst>
              <p:ext uri="{D42A27DB-BD31-4B8C-83A1-F6EECF244321}">
                <p14:modId xmlns:p14="http://schemas.microsoft.com/office/powerpoint/2010/main" val="3145104896"/>
              </p:ext>
            </p:extLst>
          </p:nvPr>
        </p:nvGraphicFramePr>
        <p:xfrm>
          <a:off x="768098" y="3125585"/>
          <a:ext cx="7453189" cy="24273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Arrow: Right 6">
            <a:hlinkClick r:id="rId7" action="ppaction://hlinksldjump" highlightClick="1"/>
            <a:extLst>
              <a:ext uri="{FF2B5EF4-FFF2-40B4-BE49-F238E27FC236}">
                <a16:creationId xmlns:a16="http://schemas.microsoft.com/office/drawing/2014/main" id="{83CA0C4E-E349-4692-9CA3-3D00548C40A9}"/>
              </a:ext>
            </a:extLst>
          </p:cNvPr>
          <p:cNvSpPr/>
          <p:nvPr/>
        </p:nvSpPr>
        <p:spPr>
          <a:xfrm>
            <a:off x="8533015" y="6367552"/>
            <a:ext cx="411480" cy="384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673334"/>
            <a:ext cx="7498910" cy="1251327"/>
          </a:xfrm>
          <a:noFill/>
          <a:ln cap="rnd" cmpd="sng">
            <a:gradFill>
              <a:gsLst>
                <a:gs pos="0">
                  <a:schemeClr val="accent2">
                    <a:lumMod val="60000"/>
                    <a:lumOff val="40000"/>
                  </a:schemeClr>
                </a:gs>
                <a:gs pos="27880">
                  <a:srgbClr val="B5E4F6"/>
                </a:gs>
                <a:gs pos="40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xtLst>
              <a:ext uri="{C807C97D-BFC1-408E-A445-0C87EB9F89A2}">
                <ask:lineSketchStyleProps xmlns:ask="http://schemas.microsoft.com/office/drawing/2018/sketchyshapes" sd="1219033472">
                  <a:custGeom>
                    <a:avLst/>
                    <a:gdLst>
                      <a:gd name="connsiteX0" fmla="*/ 0 w 7290054"/>
                      <a:gd name="connsiteY0" fmla="*/ 0 h 1499616"/>
                      <a:gd name="connsiteX1" fmla="*/ 7290054 w 7290054"/>
                      <a:gd name="connsiteY1" fmla="*/ 0 h 1499616"/>
                      <a:gd name="connsiteX2" fmla="*/ 7290054 w 7290054"/>
                      <a:gd name="connsiteY2" fmla="*/ 1499616 h 1499616"/>
                      <a:gd name="connsiteX3" fmla="*/ 0 w 7290054"/>
                      <a:gd name="connsiteY3" fmla="*/ 1499616 h 1499616"/>
                      <a:gd name="connsiteX4" fmla="*/ 0 w 7290054"/>
                      <a:gd name="connsiteY4" fmla="*/ 0 h 1499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90054" h="1499616" fill="none" extrusionOk="0">
                        <a:moveTo>
                          <a:pt x="0" y="0"/>
                        </a:moveTo>
                        <a:cubicBezTo>
                          <a:pt x="3197478" y="-49533"/>
                          <a:pt x="4799464" y="-14809"/>
                          <a:pt x="7290054" y="0"/>
                        </a:cubicBezTo>
                        <a:cubicBezTo>
                          <a:pt x="7265749" y="567507"/>
                          <a:pt x="7186029" y="775241"/>
                          <a:pt x="7290054" y="1499616"/>
                        </a:cubicBezTo>
                        <a:cubicBezTo>
                          <a:pt x="6559447" y="1451385"/>
                          <a:pt x="1157352" y="1584071"/>
                          <a:pt x="0" y="1499616"/>
                        </a:cubicBezTo>
                        <a:cubicBezTo>
                          <a:pt x="7587" y="1022074"/>
                          <a:pt x="-52095" y="243945"/>
                          <a:pt x="0" y="0"/>
                        </a:cubicBezTo>
                        <a:close/>
                      </a:path>
                      <a:path w="7290054" h="1499616" stroke="0" extrusionOk="0">
                        <a:moveTo>
                          <a:pt x="0" y="0"/>
                        </a:moveTo>
                        <a:cubicBezTo>
                          <a:pt x="3346287" y="118645"/>
                          <a:pt x="4090756" y="116012"/>
                          <a:pt x="7290054" y="0"/>
                        </a:cubicBezTo>
                        <a:cubicBezTo>
                          <a:pt x="7320936" y="701776"/>
                          <a:pt x="7165894" y="827625"/>
                          <a:pt x="7290054" y="1499616"/>
                        </a:cubicBezTo>
                        <a:cubicBezTo>
                          <a:pt x="4044685" y="1634216"/>
                          <a:pt x="2934912" y="1342420"/>
                          <a:pt x="0" y="1499616"/>
                        </a:cubicBezTo>
                        <a:cubicBezTo>
                          <a:pt x="27543" y="1101482"/>
                          <a:pt x="94036" y="719063"/>
                          <a:pt x="0" y="0"/>
                        </a:cubicBezTo>
                        <a:close/>
                      </a:path>
                    </a:pathLst>
                  </a:custGeom>
                  <ask:type>
                    <ask:lineSketchNone/>
                  </ask:type>
                </ask:lineSketchStyleProps>
              </a:ext>
            </a:extLst>
          </a:ln>
        </p:spPr>
        <p:txBody>
          <a:bodyPr vert="horz" lIns="91440" tIns="45720" rIns="91440" bIns="45720" rtlCol="0" anchor="ctr">
            <a:normAutofit/>
          </a:bodyPr>
          <a:lstStyle/>
          <a:p>
            <a:pPr algn="just"/>
            <a:r>
              <a:rPr dirty="0"/>
              <a:t>Apps &amp; Tools Used</a:t>
            </a:r>
          </a:p>
        </p:txBody>
      </p:sp>
      <p:pic>
        <p:nvPicPr>
          <p:cNvPr id="1028" name="Picture 4">
            <a:extLst>
              <a:ext uri="{FF2B5EF4-FFF2-40B4-BE49-F238E27FC236}">
                <a16:creationId xmlns:a16="http://schemas.microsoft.com/office/drawing/2014/main" id="{6A69F97F-B824-48F9-9519-0F41EB4FF84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13859" y="2517544"/>
            <a:ext cx="429768" cy="47752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BF2C12C0-A216-45AB-9153-679958F59D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5301" y="2517544"/>
            <a:ext cx="371475" cy="4762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21513203-8F07-4B77-9A7B-A5920D06B1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9576" y="2517544"/>
            <a:ext cx="428625" cy="4762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1D89FD1-FF5C-46EB-80AD-B786BEA00A24}"/>
              </a:ext>
            </a:extLst>
          </p:cNvPr>
          <p:cNvSpPr txBox="1"/>
          <p:nvPr/>
        </p:nvSpPr>
        <p:spPr>
          <a:xfrm>
            <a:off x="724337" y="3070794"/>
            <a:ext cx="1886990" cy="923330"/>
          </a:xfrm>
          <a:prstGeom prst="rect">
            <a:avLst/>
          </a:prstGeom>
          <a:noFill/>
        </p:spPr>
        <p:txBody>
          <a:bodyPr wrap="square">
            <a:spAutoFit/>
          </a:bodyPr>
          <a:lstStyle/>
          <a:p>
            <a:pPr algn="ctr"/>
            <a:r>
              <a:rPr lang="en-US" b="1" dirty="0">
                <a:solidFill>
                  <a:srgbClr val="0F172A"/>
                </a:solidFill>
                <a:latin typeface="Poppins" panose="00000500000000000000" pitchFamily="2" charset="0"/>
              </a:rPr>
              <a:t>Excel</a:t>
            </a:r>
            <a:br>
              <a:rPr lang="en-US" sz="1200" dirty="0"/>
            </a:br>
            <a:r>
              <a:rPr lang="en-US" sz="1200" dirty="0">
                <a:solidFill>
                  <a:srgbClr val="475569"/>
                </a:solidFill>
                <a:latin typeface="Lato" panose="020F0502020204030203" pitchFamily="34" charset="0"/>
              </a:rPr>
              <a:t>Data cleaning, initial triage, and pivot table modeling.</a:t>
            </a:r>
            <a:endParaRPr lang="en-US" sz="1200" dirty="0"/>
          </a:p>
        </p:txBody>
      </p:sp>
      <p:sp>
        <p:nvSpPr>
          <p:cNvPr id="10" name="TextBox 9">
            <a:extLst>
              <a:ext uri="{FF2B5EF4-FFF2-40B4-BE49-F238E27FC236}">
                <a16:creationId xmlns:a16="http://schemas.microsoft.com/office/drawing/2014/main" id="{52302D64-F5B6-4DC2-944F-1FB942507F14}"/>
              </a:ext>
            </a:extLst>
          </p:cNvPr>
          <p:cNvSpPr txBox="1"/>
          <p:nvPr/>
        </p:nvSpPr>
        <p:spPr>
          <a:xfrm>
            <a:off x="3207648" y="3070794"/>
            <a:ext cx="2351386" cy="923330"/>
          </a:xfrm>
          <a:prstGeom prst="rect">
            <a:avLst/>
          </a:prstGeom>
          <a:noFill/>
        </p:spPr>
        <p:txBody>
          <a:bodyPr wrap="square">
            <a:spAutoFit/>
          </a:bodyPr>
          <a:lstStyle/>
          <a:p>
            <a:pPr algn="ctr"/>
            <a:r>
              <a:rPr lang="en-US" b="1" dirty="0">
                <a:solidFill>
                  <a:srgbClr val="0F172A"/>
                </a:solidFill>
                <a:latin typeface="Poppins" panose="00000500000000000000" pitchFamily="2" charset="0"/>
              </a:rPr>
              <a:t>SQL</a:t>
            </a:r>
            <a:endParaRPr lang="en-US" dirty="0"/>
          </a:p>
          <a:p>
            <a:pPr algn="ctr"/>
            <a:r>
              <a:rPr lang="en-US" sz="1200" dirty="0">
                <a:solidFill>
                  <a:srgbClr val="475569"/>
                </a:solidFill>
                <a:latin typeface="Lato" panose="020F0502020204030203" pitchFamily="34" charset="0"/>
              </a:rPr>
              <a:t>Relational database management and complex querying.</a:t>
            </a:r>
            <a:endParaRPr lang="en-US" dirty="0"/>
          </a:p>
        </p:txBody>
      </p:sp>
      <p:sp>
        <p:nvSpPr>
          <p:cNvPr id="12" name="TextBox 11">
            <a:extLst>
              <a:ext uri="{FF2B5EF4-FFF2-40B4-BE49-F238E27FC236}">
                <a16:creationId xmlns:a16="http://schemas.microsoft.com/office/drawing/2014/main" id="{786F4B05-0C0D-465E-A001-69009F4DB424}"/>
              </a:ext>
            </a:extLst>
          </p:cNvPr>
          <p:cNvSpPr txBox="1"/>
          <p:nvPr/>
        </p:nvSpPr>
        <p:spPr>
          <a:xfrm>
            <a:off x="6155358" y="3070794"/>
            <a:ext cx="2037059" cy="923330"/>
          </a:xfrm>
          <a:prstGeom prst="rect">
            <a:avLst/>
          </a:prstGeom>
          <a:noFill/>
        </p:spPr>
        <p:txBody>
          <a:bodyPr wrap="square">
            <a:spAutoFit/>
          </a:bodyPr>
          <a:lstStyle/>
          <a:p>
            <a:pPr algn="ctr"/>
            <a:r>
              <a:rPr lang="en-US" b="1" dirty="0">
                <a:solidFill>
                  <a:srgbClr val="0F172A"/>
                </a:solidFill>
                <a:latin typeface="Poppins" panose="00000500000000000000" pitchFamily="2" charset="0"/>
              </a:rPr>
              <a:t>Python</a:t>
            </a:r>
            <a:endParaRPr lang="en-US" dirty="0"/>
          </a:p>
          <a:p>
            <a:pPr algn="ctr"/>
            <a:r>
              <a:rPr lang="en-US" sz="1200" dirty="0">
                <a:solidFill>
                  <a:srgbClr val="475569"/>
                </a:solidFill>
                <a:latin typeface="Lato" panose="020F0502020204030203" pitchFamily="34" charset="0"/>
              </a:rPr>
              <a:t>Advanced statistical analysis and data preprocessing.</a:t>
            </a:r>
            <a:endParaRPr lang="en-US" sz="1200" dirty="0"/>
          </a:p>
        </p:txBody>
      </p:sp>
      <p:pic>
        <p:nvPicPr>
          <p:cNvPr id="1032" name="Picture 8">
            <a:extLst>
              <a:ext uri="{FF2B5EF4-FFF2-40B4-BE49-F238E27FC236}">
                <a16:creationId xmlns:a16="http://schemas.microsoft.com/office/drawing/2014/main" id="{A8D44D66-0C36-484C-A7E6-790AC948B7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5301" y="4746919"/>
            <a:ext cx="485775" cy="47625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9CD557D1-D55D-4C4A-B99E-116FFC4C0B21}"/>
              </a:ext>
            </a:extLst>
          </p:cNvPr>
          <p:cNvSpPr txBox="1"/>
          <p:nvPr/>
        </p:nvSpPr>
        <p:spPr>
          <a:xfrm>
            <a:off x="817422" y="5431393"/>
            <a:ext cx="1787235" cy="1292662"/>
          </a:xfrm>
          <a:prstGeom prst="rect">
            <a:avLst/>
          </a:prstGeom>
          <a:noFill/>
        </p:spPr>
        <p:txBody>
          <a:bodyPr wrap="square">
            <a:spAutoFit/>
          </a:bodyPr>
          <a:lstStyle/>
          <a:p>
            <a:pPr algn="ctr"/>
            <a:r>
              <a:rPr lang="en-US" b="1" dirty="0">
                <a:solidFill>
                  <a:srgbClr val="0F172A"/>
                </a:solidFill>
                <a:latin typeface="Poppins" panose="00000500000000000000" pitchFamily="2" charset="0"/>
              </a:rPr>
              <a:t>Tableau</a:t>
            </a:r>
            <a:br>
              <a:rPr lang="en-US" sz="1200" dirty="0"/>
            </a:br>
            <a:r>
              <a:rPr lang="en-US" sz="1200" dirty="0">
                <a:solidFill>
                  <a:srgbClr val="475569"/>
                </a:solidFill>
                <a:latin typeface="Lato" panose="020F0502020204030203" pitchFamily="34" charset="0"/>
              </a:rPr>
              <a:t>Interactive exploratory data visualizations.</a:t>
            </a:r>
            <a:endParaRPr lang="en-US" sz="1200" dirty="0"/>
          </a:p>
          <a:p>
            <a:br>
              <a:rPr lang="en-US" dirty="0"/>
            </a:br>
            <a:endParaRPr lang="en-US" dirty="0"/>
          </a:p>
        </p:txBody>
      </p:sp>
      <p:pic>
        <p:nvPicPr>
          <p:cNvPr id="1036" name="Picture 12">
            <a:extLst>
              <a:ext uri="{FF2B5EF4-FFF2-40B4-BE49-F238E27FC236}">
                <a16:creationId xmlns:a16="http://schemas.microsoft.com/office/drawing/2014/main" id="{B24C081C-A5B7-4E4A-903B-5883961AAD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0239" y="4726805"/>
            <a:ext cx="485775" cy="47625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22909D01-7DA5-456B-B532-4B15F70B3E5F}"/>
              </a:ext>
            </a:extLst>
          </p:cNvPr>
          <p:cNvSpPr txBox="1"/>
          <p:nvPr/>
        </p:nvSpPr>
        <p:spPr>
          <a:xfrm>
            <a:off x="3494943" y="5431393"/>
            <a:ext cx="2031060" cy="1569660"/>
          </a:xfrm>
          <a:prstGeom prst="rect">
            <a:avLst/>
          </a:prstGeom>
          <a:noFill/>
        </p:spPr>
        <p:txBody>
          <a:bodyPr wrap="square">
            <a:spAutoFit/>
          </a:bodyPr>
          <a:lstStyle/>
          <a:p>
            <a:pPr algn="ctr"/>
            <a:r>
              <a:rPr lang="en-US" b="1" dirty="0">
                <a:solidFill>
                  <a:srgbClr val="0F172A"/>
                </a:solidFill>
                <a:latin typeface="Poppins" panose="00000500000000000000" pitchFamily="2" charset="0"/>
              </a:rPr>
              <a:t>Power BI</a:t>
            </a:r>
            <a:endParaRPr lang="en-US" dirty="0"/>
          </a:p>
          <a:p>
            <a:pPr algn="ctr"/>
            <a:r>
              <a:rPr lang="en-US" sz="1200" dirty="0">
                <a:solidFill>
                  <a:srgbClr val="475569"/>
                </a:solidFill>
                <a:latin typeface="Lato" panose="020F0502020204030203" pitchFamily="34" charset="0"/>
              </a:rPr>
              <a:t>Enterprise-grade reporting and KPI dashboards.</a:t>
            </a:r>
            <a:endParaRPr lang="en-US" sz="1200" dirty="0"/>
          </a:p>
          <a:p>
            <a:br>
              <a:rPr lang="en-US" dirty="0"/>
            </a:br>
            <a:br>
              <a:rPr lang="en-US" dirty="0"/>
            </a:br>
            <a:endParaRPr lang="en-US" dirty="0"/>
          </a:p>
        </p:txBody>
      </p:sp>
      <p:sp>
        <p:nvSpPr>
          <p:cNvPr id="11" name="Rectangle: Rounded Corners 10">
            <a:hlinkClick r:id="rId7" action="ppaction://hlinksldjump" highlightClick="1"/>
            <a:extLst>
              <a:ext uri="{FF2B5EF4-FFF2-40B4-BE49-F238E27FC236}">
                <a16:creationId xmlns:a16="http://schemas.microsoft.com/office/drawing/2014/main" id="{3CF08913-4453-4D77-9D6B-BD22EA0D864C}"/>
              </a:ext>
            </a:extLst>
          </p:cNvPr>
          <p:cNvSpPr/>
          <p:nvPr/>
        </p:nvSpPr>
        <p:spPr>
          <a:xfrm>
            <a:off x="3376364" y="4453163"/>
            <a:ext cx="2186247" cy="1995363"/>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1" name="Rectangle: Rounded Corners 20">
            <a:hlinkClick r:id="rId8" action="ppaction://hlinksldjump" highlightClick="1"/>
            <a:extLst>
              <a:ext uri="{FF2B5EF4-FFF2-40B4-BE49-F238E27FC236}">
                <a16:creationId xmlns:a16="http://schemas.microsoft.com/office/drawing/2014/main" id="{FD1E12D7-D983-49FC-A3CB-6AD2502758C2}"/>
              </a:ext>
            </a:extLst>
          </p:cNvPr>
          <p:cNvSpPr/>
          <p:nvPr/>
        </p:nvSpPr>
        <p:spPr>
          <a:xfrm>
            <a:off x="3376364" y="2153000"/>
            <a:ext cx="2186247" cy="1995363"/>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2" name="Rectangle: Rounded Corners 21">
            <a:hlinkClick r:id="rId9" action="ppaction://hlinksldjump" highlightClick="1"/>
            <a:extLst>
              <a:ext uri="{FF2B5EF4-FFF2-40B4-BE49-F238E27FC236}">
                <a16:creationId xmlns:a16="http://schemas.microsoft.com/office/drawing/2014/main" id="{29AB3360-776C-45A8-B423-DE2E06F2C761}"/>
              </a:ext>
            </a:extLst>
          </p:cNvPr>
          <p:cNvSpPr/>
          <p:nvPr/>
        </p:nvSpPr>
        <p:spPr>
          <a:xfrm>
            <a:off x="6080763" y="2153000"/>
            <a:ext cx="2186247" cy="1995363"/>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3" name="Rectangle: Rounded Corners 22">
            <a:hlinkClick r:id="rId10" action="ppaction://hlinksldjump" highlightClick="1"/>
            <a:extLst>
              <a:ext uri="{FF2B5EF4-FFF2-40B4-BE49-F238E27FC236}">
                <a16:creationId xmlns:a16="http://schemas.microsoft.com/office/drawing/2014/main" id="{56F62C0F-CAA1-4770-9745-C69E0BF0B2DD}"/>
              </a:ext>
            </a:extLst>
          </p:cNvPr>
          <p:cNvSpPr/>
          <p:nvPr/>
        </p:nvSpPr>
        <p:spPr>
          <a:xfrm>
            <a:off x="617917" y="2153000"/>
            <a:ext cx="2186247" cy="1995363"/>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4" name="Rectangle: Rounded Corners 23">
            <a:hlinkClick r:id="rId11" action="ppaction://hlinksldjump" highlightClick="1"/>
            <a:extLst>
              <a:ext uri="{FF2B5EF4-FFF2-40B4-BE49-F238E27FC236}">
                <a16:creationId xmlns:a16="http://schemas.microsoft.com/office/drawing/2014/main" id="{C78BDA37-5F93-4D6D-82F8-38AE7E73D442}"/>
              </a:ext>
            </a:extLst>
          </p:cNvPr>
          <p:cNvSpPr/>
          <p:nvPr/>
        </p:nvSpPr>
        <p:spPr>
          <a:xfrm>
            <a:off x="619473" y="4453162"/>
            <a:ext cx="2186247" cy="1995363"/>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7" name="Arrow: Right 26">
            <a:hlinkClick r:id="rId12" action="ppaction://hlinksldjump"/>
            <a:extLst>
              <a:ext uri="{FF2B5EF4-FFF2-40B4-BE49-F238E27FC236}">
                <a16:creationId xmlns:a16="http://schemas.microsoft.com/office/drawing/2014/main" id="{A1B51730-5460-4F89-83F1-66B27AE9A393}"/>
              </a:ext>
            </a:extLst>
          </p:cNvPr>
          <p:cNvSpPr/>
          <p:nvPr/>
        </p:nvSpPr>
        <p:spPr>
          <a:xfrm>
            <a:off x="8533015" y="6367552"/>
            <a:ext cx="411480" cy="384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A388E-A0D1-4EA8-A3F3-0A87DC358CF4}"/>
              </a:ext>
            </a:extLst>
          </p:cNvPr>
          <p:cNvSpPr>
            <a:spLocks noGrp="1"/>
          </p:cNvSpPr>
          <p:nvPr>
            <p:ph type="title"/>
          </p:nvPr>
        </p:nvSpPr>
        <p:spPr>
          <a:xfrm>
            <a:off x="768099" y="585216"/>
            <a:ext cx="7444879" cy="1293460"/>
          </a:xfrm>
          <a:noFill/>
          <a:ln cap="rnd" cmpd="sng">
            <a:gradFill>
              <a:gsLst>
                <a:gs pos="0">
                  <a:schemeClr val="accent2">
                    <a:lumMod val="60000"/>
                    <a:lumOff val="40000"/>
                  </a:schemeClr>
                </a:gs>
                <a:gs pos="46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xtLst>
              <a:ext uri="{C807C97D-BFC1-408E-A445-0C87EB9F89A2}">
                <ask:lineSketchStyleProps xmlns:ask="http://schemas.microsoft.com/office/drawing/2018/sketchyshapes" sd="1219033472">
                  <a:custGeom>
                    <a:avLst/>
                    <a:gdLst>
                      <a:gd name="connsiteX0" fmla="*/ 0 w 7290054"/>
                      <a:gd name="connsiteY0" fmla="*/ 0 h 1499616"/>
                      <a:gd name="connsiteX1" fmla="*/ 7290054 w 7290054"/>
                      <a:gd name="connsiteY1" fmla="*/ 0 h 1499616"/>
                      <a:gd name="connsiteX2" fmla="*/ 7290054 w 7290054"/>
                      <a:gd name="connsiteY2" fmla="*/ 1499616 h 1499616"/>
                      <a:gd name="connsiteX3" fmla="*/ 0 w 7290054"/>
                      <a:gd name="connsiteY3" fmla="*/ 1499616 h 1499616"/>
                      <a:gd name="connsiteX4" fmla="*/ 0 w 7290054"/>
                      <a:gd name="connsiteY4" fmla="*/ 0 h 1499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90054" h="1499616" fill="none" extrusionOk="0">
                        <a:moveTo>
                          <a:pt x="0" y="0"/>
                        </a:moveTo>
                        <a:cubicBezTo>
                          <a:pt x="3197478" y="-49533"/>
                          <a:pt x="4799464" y="-14809"/>
                          <a:pt x="7290054" y="0"/>
                        </a:cubicBezTo>
                        <a:cubicBezTo>
                          <a:pt x="7265749" y="567507"/>
                          <a:pt x="7186029" y="775241"/>
                          <a:pt x="7290054" y="1499616"/>
                        </a:cubicBezTo>
                        <a:cubicBezTo>
                          <a:pt x="6559447" y="1451385"/>
                          <a:pt x="1157352" y="1584071"/>
                          <a:pt x="0" y="1499616"/>
                        </a:cubicBezTo>
                        <a:cubicBezTo>
                          <a:pt x="7587" y="1022074"/>
                          <a:pt x="-52095" y="243945"/>
                          <a:pt x="0" y="0"/>
                        </a:cubicBezTo>
                        <a:close/>
                      </a:path>
                      <a:path w="7290054" h="1499616" stroke="0" extrusionOk="0">
                        <a:moveTo>
                          <a:pt x="0" y="0"/>
                        </a:moveTo>
                        <a:cubicBezTo>
                          <a:pt x="3346287" y="118645"/>
                          <a:pt x="4090756" y="116012"/>
                          <a:pt x="7290054" y="0"/>
                        </a:cubicBezTo>
                        <a:cubicBezTo>
                          <a:pt x="7320936" y="701776"/>
                          <a:pt x="7165894" y="827625"/>
                          <a:pt x="7290054" y="1499616"/>
                        </a:cubicBezTo>
                        <a:cubicBezTo>
                          <a:pt x="4044685" y="1634216"/>
                          <a:pt x="2934912" y="1342420"/>
                          <a:pt x="0" y="1499616"/>
                        </a:cubicBezTo>
                        <a:cubicBezTo>
                          <a:pt x="27543" y="1101482"/>
                          <a:pt x="94036" y="719063"/>
                          <a:pt x="0" y="0"/>
                        </a:cubicBezTo>
                        <a:close/>
                      </a:path>
                    </a:pathLst>
                  </a:custGeom>
                  <ask:type>
                    <ask:lineSketchNone/>
                  </ask:type>
                </ask:lineSketchStyleProps>
              </a:ext>
            </a:extLst>
          </a:ln>
        </p:spPr>
        <p:txBody>
          <a:bodyPr>
            <a:normAutofit/>
          </a:bodyPr>
          <a:lstStyle/>
          <a:p>
            <a:pPr algn="just"/>
            <a:r>
              <a:rPr lang="en-US" dirty="0"/>
              <a:t>Cleaning PROCESES &amp; Source</a:t>
            </a:r>
          </a:p>
        </p:txBody>
      </p:sp>
      <p:sp>
        <p:nvSpPr>
          <p:cNvPr id="3" name="Content Placeholder 2">
            <a:extLst>
              <a:ext uri="{FF2B5EF4-FFF2-40B4-BE49-F238E27FC236}">
                <a16:creationId xmlns:a16="http://schemas.microsoft.com/office/drawing/2014/main" id="{07F6DAD9-AF16-4953-A1D5-D0AC7BA6C15F}"/>
              </a:ext>
            </a:extLst>
          </p:cNvPr>
          <p:cNvSpPr>
            <a:spLocks noGrp="1"/>
          </p:cNvSpPr>
          <p:nvPr>
            <p:ph idx="1"/>
          </p:nvPr>
        </p:nvSpPr>
        <p:spPr>
          <a:xfrm>
            <a:off x="768100" y="2152996"/>
            <a:ext cx="7444879" cy="4156364"/>
          </a:xfrm>
          <a:noFill/>
          <a:ln cap="rnd" cmpd="sng">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p:spPr>
        <p:txBody>
          <a:bodyPr/>
          <a:lstStyle/>
          <a:p>
            <a:pPr>
              <a:buClr>
                <a:schemeClr val="accent2">
                  <a:lumMod val="60000"/>
                  <a:lumOff val="40000"/>
                </a:schemeClr>
              </a:buClr>
              <a:buFont typeface="Tw Cen MT" panose="020B0602020104020603" pitchFamily="34" charset="0"/>
              <a:buChar char="∆"/>
            </a:pPr>
            <a:r>
              <a:rPr lang="en-US" sz="1850" dirty="0"/>
              <a:t>We removed nulls &amp; duplicates, Fixed Upper &amp; Lowercases ,Corrected errors,  Changed data types and formats such as (dates, decimals and text).</a:t>
            </a:r>
          </a:p>
          <a:p>
            <a:pPr>
              <a:buClr>
                <a:schemeClr val="accent2">
                  <a:lumMod val="60000"/>
                  <a:lumOff val="40000"/>
                </a:schemeClr>
              </a:buClr>
              <a:buFont typeface="Tw Cen MT" panose="020B0602020104020603" pitchFamily="34" charset="0"/>
              <a:buChar char="∆"/>
            </a:pPr>
            <a:r>
              <a:rPr lang="en-US" dirty="0"/>
              <a:t>Added important columns that helped our data analysis and provided accurate and precise numerical facts to improve our institution such as:</a:t>
            </a:r>
          </a:p>
          <a:p>
            <a:pPr marL="173736" lvl="1" indent="0">
              <a:buClr>
                <a:schemeClr val="accent2">
                  <a:lumMod val="75000"/>
                </a:schemeClr>
              </a:buClr>
              <a:buNone/>
            </a:pPr>
            <a:endParaRPr lang="en-US" dirty="0"/>
          </a:p>
          <a:p>
            <a:pPr marL="573786" lvl="1" indent="-400050">
              <a:buClr>
                <a:schemeClr val="accent2">
                  <a:lumMod val="60000"/>
                  <a:lumOff val="40000"/>
                </a:schemeClr>
              </a:buClr>
              <a:buFont typeface="+mj-lt"/>
              <a:buAutoNum type="romanUcPeriod"/>
            </a:pPr>
            <a:r>
              <a:rPr lang="en-US" dirty="0"/>
              <a:t>Profit Margin.</a:t>
            </a:r>
          </a:p>
          <a:p>
            <a:pPr marL="573786" lvl="1" indent="-400050">
              <a:buClr>
                <a:schemeClr val="accent2">
                  <a:lumMod val="60000"/>
                  <a:lumOff val="40000"/>
                </a:schemeClr>
              </a:buClr>
              <a:buFont typeface="+mj-lt"/>
              <a:buAutoNum type="romanUcPeriod"/>
            </a:pPr>
            <a:r>
              <a:rPr lang="en-US" dirty="0"/>
              <a:t>Financial Status.</a:t>
            </a:r>
          </a:p>
          <a:p>
            <a:pPr marL="573786" lvl="1" indent="-400050">
              <a:buClr>
                <a:schemeClr val="accent2">
                  <a:lumMod val="60000"/>
                  <a:lumOff val="40000"/>
                </a:schemeClr>
              </a:buClr>
              <a:buFont typeface="+mj-lt"/>
              <a:buAutoNum type="romanUcPeriod"/>
            </a:pPr>
            <a:r>
              <a:rPr lang="en-US" dirty="0"/>
              <a:t>Days to Ship.</a:t>
            </a:r>
          </a:p>
          <a:p>
            <a:pPr marL="573786" lvl="1" indent="-400050">
              <a:buClr>
                <a:schemeClr val="accent2">
                  <a:lumMod val="60000"/>
                  <a:lumOff val="40000"/>
                </a:schemeClr>
              </a:buClr>
              <a:buFont typeface="+mj-lt"/>
              <a:buAutoNum type="romanUcPeriod"/>
            </a:pPr>
            <a:r>
              <a:rPr lang="en-US" dirty="0"/>
              <a:t>Delivery Status.</a:t>
            </a:r>
          </a:p>
          <a:p>
            <a:pPr marL="573786" lvl="1" indent="-400050">
              <a:buClr>
                <a:schemeClr val="accent2">
                  <a:lumMod val="60000"/>
                  <a:lumOff val="40000"/>
                </a:schemeClr>
              </a:buClr>
              <a:buFont typeface="+mj-lt"/>
              <a:buAutoNum type="romanUcPeriod"/>
            </a:pPr>
            <a:r>
              <a:rPr lang="en-US" dirty="0"/>
              <a:t>Year.</a:t>
            </a:r>
          </a:p>
          <a:p>
            <a:pPr marL="573786" lvl="1" indent="-400050">
              <a:buClr>
                <a:schemeClr val="accent2">
                  <a:lumMod val="60000"/>
                  <a:lumOff val="40000"/>
                </a:schemeClr>
              </a:buClr>
              <a:buFont typeface="+mj-lt"/>
              <a:buAutoNum type="romanUcPeriod"/>
            </a:pPr>
            <a:r>
              <a:rPr lang="en-US" dirty="0"/>
              <a:t>Month Name.</a:t>
            </a:r>
          </a:p>
          <a:p>
            <a:pPr marL="173736" lvl="1" indent="0">
              <a:buClr>
                <a:schemeClr val="accent2">
                  <a:lumMod val="75000"/>
                </a:schemeClr>
              </a:buClr>
              <a:buNone/>
            </a:pPr>
            <a:endParaRPr lang="en-US" dirty="0"/>
          </a:p>
          <a:p>
            <a:pPr marL="459486" lvl="1" indent="-285750">
              <a:buClr>
                <a:schemeClr val="accent2">
                  <a:lumMod val="60000"/>
                  <a:lumOff val="40000"/>
                </a:schemeClr>
              </a:buClr>
              <a:buFont typeface="Wingdings" panose="05000000000000000000" pitchFamily="2" charset="2"/>
              <a:buChar char="Ø"/>
            </a:pPr>
            <a:r>
              <a:rPr lang="en-US" dirty="0"/>
              <a:t>And More Measures that can be found on our </a:t>
            </a:r>
            <a:r>
              <a:rPr lang="en-US" dirty="0" err="1"/>
              <a:t>PowerBi</a:t>
            </a:r>
            <a:r>
              <a:rPr lang="en-US" dirty="0"/>
              <a:t> Dashboard.</a:t>
            </a:r>
          </a:p>
        </p:txBody>
      </p:sp>
      <p:sp>
        <p:nvSpPr>
          <p:cNvPr id="4" name="Arrow: Right 3">
            <a:hlinkClick r:id="rId2" action="ppaction://hlinksldjump" highlightClick="1"/>
            <a:extLst>
              <a:ext uri="{FF2B5EF4-FFF2-40B4-BE49-F238E27FC236}">
                <a16:creationId xmlns:a16="http://schemas.microsoft.com/office/drawing/2014/main" id="{8B580BA5-B60A-4FDD-9053-A8A8A845E445}"/>
              </a:ext>
            </a:extLst>
          </p:cNvPr>
          <p:cNvSpPr/>
          <p:nvPr/>
        </p:nvSpPr>
        <p:spPr>
          <a:xfrm rot="10800000">
            <a:off x="152124" y="6367552"/>
            <a:ext cx="410649" cy="3823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hlinkClick r:id="rId3" action="ppaction://hlinksldjump"/>
            <a:extLst>
              <a:ext uri="{FF2B5EF4-FFF2-40B4-BE49-F238E27FC236}">
                <a16:creationId xmlns:a16="http://schemas.microsoft.com/office/drawing/2014/main" id="{13495BC6-3D9E-4CB5-A8D6-D33F9115ACB4}"/>
              </a:ext>
            </a:extLst>
          </p:cNvPr>
          <p:cNvSpPr/>
          <p:nvPr/>
        </p:nvSpPr>
        <p:spPr>
          <a:xfrm>
            <a:off x="8533015" y="6367552"/>
            <a:ext cx="411480" cy="384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9818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393213"/>
          </a:xfrm>
          <a:noFill/>
          <a:ln cap="rnd" cmpd="sng">
            <a:gradFill>
              <a:gsLst>
                <a:gs pos="0">
                  <a:schemeClr val="accent2">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xtLst>
              <a:ext uri="{C807C97D-BFC1-408E-A445-0C87EB9F89A2}">
                <ask:lineSketchStyleProps xmlns:ask="http://schemas.microsoft.com/office/drawing/2018/sketchyshapes" sd="1219033472">
                  <a:custGeom>
                    <a:avLst/>
                    <a:gdLst>
                      <a:gd name="connsiteX0" fmla="*/ 0 w 7290054"/>
                      <a:gd name="connsiteY0" fmla="*/ 0 h 1499616"/>
                      <a:gd name="connsiteX1" fmla="*/ 7290054 w 7290054"/>
                      <a:gd name="connsiteY1" fmla="*/ 0 h 1499616"/>
                      <a:gd name="connsiteX2" fmla="*/ 7290054 w 7290054"/>
                      <a:gd name="connsiteY2" fmla="*/ 1499616 h 1499616"/>
                      <a:gd name="connsiteX3" fmla="*/ 0 w 7290054"/>
                      <a:gd name="connsiteY3" fmla="*/ 1499616 h 1499616"/>
                      <a:gd name="connsiteX4" fmla="*/ 0 w 7290054"/>
                      <a:gd name="connsiteY4" fmla="*/ 0 h 1499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90054" h="1499616" fill="none" extrusionOk="0">
                        <a:moveTo>
                          <a:pt x="0" y="0"/>
                        </a:moveTo>
                        <a:cubicBezTo>
                          <a:pt x="3197478" y="-49533"/>
                          <a:pt x="4799464" y="-14809"/>
                          <a:pt x="7290054" y="0"/>
                        </a:cubicBezTo>
                        <a:cubicBezTo>
                          <a:pt x="7265749" y="567507"/>
                          <a:pt x="7186029" y="775241"/>
                          <a:pt x="7290054" y="1499616"/>
                        </a:cubicBezTo>
                        <a:cubicBezTo>
                          <a:pt x="6559447" y="1451385"/>
                          <a:pt x="1157352" y="1584071"/>
                          <a:pt x="0" y="1499616"/>
                        </a:cubicBezTo>
                        <a:cubicBezTo>
                          <a:pt x="7587" y="1022074"/>
                          <a:pt x="-52095" y="243945"/>
                          <a:pt x="0" y="0"/>
                        </a:cubicBezTo>
                        <a:close/>
                      </a:path>
                      <a:path w="7290054" h="1499616" stroke="0" extrusionOk="0">
                        <a:moveTo>
                          <a:pt x="0" y="0"/>
                        </a:moveTo>
                        <a:cubicBezTo>
                          <a:pt x="3346287" y="118645"/>
                          <a:pt x="4090756" y="116012"/>
                          <a:pt x="7290054" y="0"/>
                        </a:cubicBezTo>
                        <a:cubicBezTo>
                          <a:pt x="7320936" y="701776"/>
                          <a:pt x="7165894" y="827625"/>
                          <a:pt x="7290054" y="1499616"/>
                        </a:cubicBezTo>
                        <a:cubicBezTo>
                          <a:pt x="4044685" y="1634216"/>
                          <a:pt x="2934912" y="1342420"/>
                          <a:pt x="0" y="1499616"/>
                        </a:cubicBezTo>
                        <a:cubicBezTo>
                          <a:pt x="27543" y="1101482"/>
                          <a:pt x="94036" y="719063"/>
                          <a:pt x="0" y="0"/>
                        </a:cubicBezTo>
                        <a:close/>
                      </a:path>
                    </a:pathLst>
                  </a:custGeom>
                  <ask:type>
                    <ask:lineSketchNone/>
                  </ask:type>
                </ask:lineSketchStyleProps>
              </a:ext>
            </a:extLst>
          </a:ln>
        </p:spPr>
        <p:txBody>
          <a:bodyPr vert="horz" lIns="91440" tIns="45720" rIns="91440" bIns="45720" rtlCol="0" anchor="ctr">
            <a:normAutofit/>
          </a:bodyPr>
          <a:lstStyle/>
          <a:p>
            <a:pPr algn="just"/>
            <a:r>
              <a:rPr dirty="0"/>
              <a:t>Analytical Questions Answered</a:t>
            </a:r>
          </a:p>
        </p:txBody>
      </p:sp>
      <p:sp>
        <p:nvSpPr>
          <p:cNvPr id="3" name="Content Placeholder 2"/>
          <p:cNvSpPr>
            <a:spLocks noGrp="1"/>
          </p:cNvSpPr>
          <p:nvPr>
            <p:ph idx="1"/>
          </p:nvPr>
        </p:nvSpPr>
        <p:spPr/>
        <p:txBody>
          <a:bodyPr>
            <a:normAutofit fontScale="85000" lnSpcReduction="10000"/>
          </a:bodyPr>
          <a:lstStyle/>
          <a:p>
            <a:pPr marL="342900" indent="-342900">
              <a:lnSpc>
                <a:spcPct val="107000"/>
              </a:lnSpc>
              <a:spcBef>
                <a:spcPts val="0"/>
              </a:spcBef>
              <a:spcAft>
                <a:spcPts val="800"/>
              </a:spcAft>
              <a:buFont typeface="+mj-lt"/>
              <a:buAutoNum type="arabicPeriod"/>
            </a:pPr>
            <a:r>
              <a:rPr lang="en-US" sz="1800" b="1" dirty="0">
                <a:latin typeface="Times New Roman" panose="02020603050405020304" pitchFamily="18" charset="0"/>
                <a:ea typeface="Times New Roman" panose="02020603050405020304" pitchFamily="18" charset="0"/>
                <a:cs typeface="Arial" panose="020B0604020202020204" pitchFamily="34" charset="0"/>
              </a:rPr>
              <a:t>What is the most popular shipping method chosen by customers?</a:t>
            </a:r>
            <a:r>
              <a:rPr lang="en-US" sz="1800" dirty="0">
                <a:latin typeface="Times New Roman" panose="02020603050405020304" pitchFamily="18" charset="0"/>
                <a:ea typeface="Times New Roman" panose="02020603050405020304" pitchFamily="18" charset="0"/>
                <a:cs typeface="Arial" panose="020B0604020202020204" pitchFamily="34" charset="0"/>
              </a:rPr>
              <a:t> </a:t>
            </a:r>
            <a:endParaRPr lang="en-US" sz="1800" dirty="0">
              <a:latin typeface="Calibri" panose="020F0502020204030204" pitchFamily="34" charset="0"/>
              <a:ea typeface="Calibri" panose="020F0502020204030204" pitchFamily="34" charset="0"/>
              <a:cs typeface="Arial" panose="020B0604020202020204" pitchFamily="34" charset="0"/>
            </a:endParaRPr>
          </a:p>
          <a:p>
            <a:pPr marL="342900" indent="-342900">
              <a:lnSpc>
                <a:spcPct val="107000"/>
              </a:lnSpc>
              <a:spcBef>
                <a:spcPts val="0"/>
              </a:spcBef>
              <a:spcAft>
                <a:spcPts val="800"/>
              </a:spcAft>
              <a:buFont typeface="+mj-lt"/>
              <a:buAutoNum type="arabicPeriod"/>
            </a:pPr>
            <a:r>
              <a:rPr lang="en-US" sz="1800" b="1" dirty="0">
                <a:latin typeface="Times New Roman" panose="02020603050405020304" pitchFamily="18" charset="0"/>
                <a:ea typeface="Times New Roman" panose="02020603050405020304" pitchFamily="18" charset="0"/>
                <a:cs typeface="Arial" panose="020B0604020202020204" pitchFamily="34" charset="0"/>
              </a:rPr>
              <a:t>Are we making mostly profit or loss?</a:t>
            </a:r>
            <a:endParaRPr lang="en-US" sz="1800" dirty="0">
              <a:latin typeface="Calibri" panose="020F0502020204030204" pitchFamily="34" charset="0"/>
              <a:ea typeface="Calibri" panose="020F0502020204030204" pitchFamily="34" charset="0"/>
              <a:cs typeface="Arial" panose="020B0604020202020204" pitchFamily="34" charset="0"/>
            </a:endParaRPr>
          </a:p>
          <a:p>
            <a:pPr marL="342900" indent="-342900">
              <a:lnSpc>
                <a:spcPct val="107000"/>
              </a:lnSpc>
              <a:spcBef>
                <a:spcPts val="0"/>
              </a:spcBef>
              <a:spcAft>
                <a:spcPts val="800"/>
              </a:spcAft>
              <a:buFont typeface="+mj-lt"/>
              <a:buAutoNum type="arabicPeriod"/>
            </a:pPr>
            <a:r>
              <a:rPr lang="en-US" sz="1800" b="1" dirty="0">
                <a:latin typeface="Times New Roman" panose="02020603050405020304" pitchFamily="18" charset="0"/>
                <a:ea typeface="Times New Roman" panose="02020603050405020304" pitchFamily="18" charset="0"/>
                <a:cs typeface="Arial" panose="020B0604020202020204" pitchFamily="34" charset="0"/>
              </a:rPr>
              <a:t>What is the total number of products sold across the whole store?</a:t>
            </a:r>
            <a:r>
              <a:rPr lang="en-US" sz="1800" dirty="0">
                <a:latin typeface="Times New Roman" panose="02020603050405020304" pitchFamily="18" charset="0"/>
                <a:ea typeface="Times New Roman" panose="02020603050405020304" pitchFamily="18" charset="0"/>
                <a:cs typeface="Arial" panose="020B0604020202020204" pitchFamily="34" charset="0"/>
              </a:rPr>
              <a:t> </a:t>
            </a:r>
            <a:endParaRPr lang="en-US" sz="1800" dirty="0">
              <a:latin typeface="Calibri" panose="020F0502020204030204" pitchFamily="34" charset="0"/>
              <a:ea typeface="Calibri" panose="020F0502020204030204" pitchFamily="34" charset="0"/>
              <a:cs typeface="Arial" panose="020B0604020202020204" pitchFamily="34" charset="0"/>
            </a:endParaRPr>
          </a:p>
          <a:p>
            <a:pPr marL="342900" indent="-342900">
              <a:lnSpc>
                <a:spcPct val="107000"/>
              </a:lnSpc>
              <a:spcBef>
                <a:spcPts val="0"/>
              </a:spcBef>
              <a:spcAft>
                <a:spcPts val="800"/>
              </a:spcAft>
              <a:buFont typeface="+mj-lt"/>
              <a:buAutoNum type="arabicPeriod"/>
            </a:pPr>
            <a:r>
              <a:rPr lang="en-US" sz="1800" b="1" dirty="0">
                <a:latin typeface="Times New Roman" panose="02020603050405020304" pitchFamily="18" charset="0"/>
                <a:ea typeface="Times New Roman" panose="02020603050405020304" pitchFamily="18" charset="0"/>
                <a:cs typeface="Arial" panose="020B0604020202020204" pitchFamily="34" charset="0"/>
              </a:rPr>
              <a:t>Which customer group (Segment) buys the most products?</a:t>
            </a:r>
            <a:endParaRPr lang="en-US" sz="1800" dirty="0">
              <a:latin typeface="Calibri" panose="020F0502020204030204" pitchFamily="34" charset="0"/>
              <a:ea typeface="Calibri" panose="020F0502020204030204" pitchFamily="34" charset="0"/>
              <a:cs typeface="Arial" panose="020B0604020202020204" pitchFamily="34" charset="0"/>
            </a:endParaRPr>
          </a:p>
          <a:p>
            <a:pPr marL="342900" indent="-342900">
              <a:lnSpc>
                <a:spcPct val="107000"/>
              </a:lnSpc>
              <a:spcBef>
                <a:spcPts val="0"/>
              </a:spcBef>
              <a:spcAft>
                <a:spcPts val="800"/>
              </a:spcAft>
              <a:buFont typeface="+mj-lt"/>
              <a:buAutoNum type="arabicPeriod"/>
            </a:pPr>
            <a:r>
              <a:rPr lang="en-US" sz="1800" b="1" dirty="0">
                <a:latin typeface="Times New Roman" panose="02020603050405020304" pitchFamily="18" charset="0"/>
                <a:ea typeface="Times New Roman" panose="02020603050405020304" pitchFamily="18" charset="0"/>
                <a:cs typeface="Arial" panose="020B0604020202020204" pitchFamily="34" charset="0"/>
              </a:rPr>
              <a:t>Who are the top 5 "Star Customers" who spent the most money at the store?</a:t>
            </a:r>
            <a:endParaRPr lang="en-US" sz="1800" dirty="0">
              <a:latin typeface="Calibri" panose="020F0502020204030204" pitchFamily="34" charset="0"/>
              <a:ea typeface="Calibri" panose="020F0502020204030204" pitchFamily="34" charset="0"/>
              <a:cs typeface="Arial" panose="020B0604020202020204" pitchFamily="34" charset="0"/>
            </a:endParaRPr>
          </a:p>
          <a:p>
            <a:pPr marL="342900" indent="-342900">
              <a:lnSpc>
                <a:spcPct val="107000"/>
              </a:lnSpc>
              <a:spcBef>
                <a:spcPts val="0"/>
              </a:spcBef>
              <a:spcAft>
                <a:spcPts val="800"/>
              </a:spcAft>
              <a:buFont typeface="+mj-lt"/>
              <a:buAutoNum type="arabicPeriod"/>
              <a:tabLst>
                <a:tab pos="457200" algn="l"/>
              </a:tabLst>
            </a:pPr>
            <a:r>
              <a:rPr lang="en-US" sz="1800" b="1" dirty="0">
                <a:latin typeface="Times New Roman" panose="02020603050405020304" pitchFamily="18" charset="0"/>
                <a:ea typeface="Times New Roman" panose="02020603050405020304" pitchFamily="18" charset="0"/>
                <a:cs typeface="Arial" panose="020B0604020202020204" pitchFamily="34" charset="0"/>
              </a:rPr>
              <a:t>What is the average number of items a customer buys in a single order?</a:t>
            </a:r>
            <a:endParaRPr lang="en-US" sz="1800" dirty="0">
              <a:latin typeface="Calibri" panose="020F0502020204030204" pitchFamily="34" charset="0"/>
              <a:ea typeface="Calibri" panose="020F0502020204030204" pitchFamily="34" charset="0"/>
              <a:cs typeface="Arial" panose="020B0604020202020204" pitchFamily="34" charset="0"/>
            </a:endParaRPr>
          </a:p>
          <a:p>
            <a:pPr marL="342900" indent="-342900">
              <a:lnSpc>
                <a:spcPct val="107000"/>
              </a:lnSpc>
              <a:spcBef>
                <a:spcPts val="0"/>
              </a:spcBef>
              <a:spcAft>
                <a:spcPts val="800"/>
              </a:spcAft>
              <a:buFont typeface="+mj-lt"/>
              <a:buAutoNum type="arabicPeriod"/>
            </a:pPr>
            <a:r>
              <a:rPr lang="en-US" sz="1800" b="1" dirty="0">
                <a:latin typeface="Times New Roman" panose="02020603050405020304" pitchFamily="18" charset="0"/>
                <a:ea typeface="Times New Roman" panose="02020603050405020304" pitchFamily="18" charset="0"/>
                <a:cs typeface="Arial" panose="020B0604020202020204" pitchFamily="34" charset="0"/>
              </a:rPr>
              <a:t>Which region of the country generates the highest total sales?</a:t>
            </a:r>
            <a:r>
              <a:rPr lang="en-US" sz="1800" dirty="0">
                <a:latin typeface="Times New Roman" panose="02020603050405020304" pitchFamily="18" charset="0"/>
                <a:ea typeface="Times New Roman" panose="02020603050405020304" pitchFamily="18" charset="0"/>
                <a:cs typeface="Arial" panose="020B0604020202020204" pitchFamily="34" charset="0"/>
              </a:rPr>
              <a:t> </a:t>
            </a:r>
            <a:endParaRPr lang="en-US" sz="1800" dirty="0">
              <a:latin typeface="Calibri" panose="020F0502020204030204" pitchFamily="34" charset="0"/>
              <a:ea typeface="Calibri" panose="020F0502020204030204" pitchFamily="34" charset="0"/>
              <a:cs typeface="Arial" panose="020B0604020202020204" pitchFamily="34" charset="0"/>
            </a:endParaRPr>
          </a:p>
          <a:p>
            <a:pPr marL="342900" indent="-342900">
              <a:lnSpc>
                <a:spcPct val="107000"/>
              </a:lnSpc>
              <a:spcBef>
                <a:spcPts val="0"/>
              </a:spcBef>
              <a:spcAft>
                <a:spcPts val="800"/>
              </a:spcAft>
              <a:buFont typeface="+mj-lt"/>
              <a:buAutoNum type="arabicPeriod"/>
            </a:pPr>
            <a:r>
              <a:rPr lang="en-US" sz="1800" b="1" dirty="0">
                <a:latin typeface="Times New Roman" panose="02020603050405020304" pitchFamily="18" charset="0"/>
                <a:ea typeface="Times New Roman" panose="02020603050405020304" pitchFamily="18" charset="0"/>
                <a:cs typeface="Arial" panose="020B0604020202020204" pitchFamily="34" charset="0"/>
              </a:rPr>
              <a:t>In which states are orders most likely to be "Delayed"?</a:t>
            </a:r>
            <a:r>
              <a:rPr lang="en-US" sz="1800" dirty="0">
                <a:latin typeface="Times New Roman" panose="02020603050405020304" pitchFamily="18" charset="0"/>
                <a:ea typeface="Times New Roman" panose="02020603050405020304" pitchFamily="18" charset="0"/>
                <a:cs typeface="Arial" panose="020B0604020202020204" pitchFamily="34" charset="0"/>
              </a:rPr>
              <a:t> </a:t>
            </a:r>
            <a:endParaRPr lang="en-US" sz="1800" dirty="0">
              <a:latin typeface="Calibri" panose="020F0502020204030204" pitchFamily="34" charset="0"/>
              <a:ea typeface="Calibri" panose="020F0502020204030204" pitchFamily="34" charset="0"/>
              <a:cs typeface="Arial" panose="020B0604020202020204" pitchFamily="34" charset="0"/>
            </a:endParaRPr>
          </a:p>
          <a:p>
            <a:pPr marL="342900" indent="-342900">
              <a:lnSpc>
                <a:spcPct val="107000"/>
              </a:lnSpc>
              <a:spcBef>
                <a:spcPts val="0"/>
              </a:spcBef>
              <a:spcAft>
                <a:spcPts val="800"/>
              </a:spcAft>
              <a:buFont typeface="+mj-lt"/>
              <a:buAutoNum type="arabicPeriod"/>
            </a:pPr>
            <a:r>
              <a:rPr lang="en-US" sz="1800" b="1" dirty="0">
                <a:latin typeface="Times New Roman" panose="02020603050405020304" pitchFamily="18" charset="0"/>
                <a:ea typeface="Times New Roman" panose="02020603050405020304" pitchFamily="18" charset="0"/>
                <a:cs typeface="Arial" panose="020B0604020202020204" pitchFamily="34" charset="0"/>
              </a:rPr>
              <a:t>Has the store's sales grown year-over-year from 2014 to 2017?</a:t>
            </a:r>
            <a:r>
              <a:rPr lang="en-US" sz="1800" dirty="0">
                <a:latin typeface="Times New Roman" panose="02020603050405020304" pitchFamily="18" charset="0"/>
                <a:ea typeface="Times New Roman" panose="02020603050405020304" pitchFamily="18" charset="0"/>
                <a:cs typeface="Arial" panose="020B0604020202020204" pitchFamily="34" charset="0"/>
              </a:rPr>
              <a:t> </a:t>
            </a:r>
            <a:endParaRPr lang="en-US" sz="1800" dirty="0">
              <a:latin typeface="Calibri" panose="020F0502020204030204" pitchFamily="34" charset="0"/>
              <a:ea typeface="Calibri" panose="020F0502020204030204" pitchFamily="34" charset="0"/>
              <a:cs typeface="Arial" panose="020B0604020202020204" pitchFamily="34" charset="0"/>
            </a:endParaRPr>
          </a:p>
          <a:p>
            <a:pPr marL="342900" indent="-342900">
              <a:lnSpc>
                <a:spcPct val="107000"/>
              </a:lnSpc>
              <a:spcBef>
                <a:spcPts val="0"/>
              </a:spcBef>
              <a:spcAft>
                <a:spcPts val="800"/>
              </a:spcAft>
              <a:buFont typeface="+mj-lt"/>
              <a:buAutoNum type="arabicPeriod"/>
            </a:pPr>
            <a:r>
              <a:rPr lang="en-US" sz="1800" b="1" dirty="0">
                <a:latin typeface="Times New Roman" panose="02020603050405020304" pitchFamily="18" charset="0"/>
                <a:ea typeface="Times New Roman" panose="02020603050405020304" pitchFamily="18" charset="0"/>
                <a:cs typeface="Arial" panose="020B0604020202020204" pitchFamily="34" charset="0"/>
              </a:rPr>
              <a:t>How many days does a customer have to wait for their items to ship?</a:t>
            </a:r>
            <a:r>
              <a:rPr lang="en-US" sz="1800" dirty="0">
                <a:latin typeface="Times New Roman" panose="02020603050405020304" pitchFamily="18" charset="0"/>
                <a:ea typeface="Times New Roman" panose="02020603050405020304" pitchFamily="18" charset="0"/>
                <a:cs typeface="Arial" panose="020B0604020202020204" pitchFamily="34" charset="0"/>
              </a:rPr>
              <a:t> </a:t>
            </a:r>
            <a:endParaRPr lang="en-US" sz="1800" dirty="0">
              <a:latin typeface="Calibri" panose="020F0502020204030204" pitchFamily="34" charset="0"/>
              <a:ea typeface="Calibri" panose="020F0502020204030204" pitchFamily="34" charset="0"/>
              <a:cs typeface="Arial" panose="020B0604020202020204" pitchFamily="34" charset="0"/>
            </a:endParaRPr>
          </a:p>
          <a:p>
            <a:pPr marL="342900" indent="-342900">
              <a:lnSpc>
                <a:spcPct val="107000"/>
              </a:lnSpc>
              <a:spcBef>
                <a:spcPts val="0"/>
              </a:spcBef>
              <a:spcAft>
                <a:spcPts val="800"/>
              </a:spcAft>
              <a:buFont typeface="+mj-lt"/>
              <a:buAutoNum type="arabicPeriod"/>
              <a:tabLst>
                <a:tab pos="457200" algn="l"/>
              </a:tabLst>
            </a:pPr>
            <a:r>
              <a:rPr lang="en-US" sz="1800" b="1" dirty="0">
                <a:latin typeface="Times New Roman" panose="02020603050405020304" pitchFamily="18" charset="0"/>
                <a:ea typeface="Times New Roman" panose="02020603050405020304" pitchFamily="18" charset="0"/>
                <a:cs typeface="Arial" panose="020B0604020202020204" pitchFamily="34" charset="0"/>
              </a:rPr>
              <a:t>Which category of products is the most popular?</a:t>
            </a:r>
            <a:endParaRPr lang="en-US" sz="1800" dirty="0">
              <a:latin typeface="Calibri" panose="020F0502020204030204" pitchFamily="34" charset="0"/>
              <a:ea typeface="Calibri" panose="020F0502020204030204" pitchFamily="34" charset="0"/>
              <a:cs typeface="Arial" panose="020B0604020202020204" pitchFamily="34" charset="0"/>
            </a:endParaRPr>
          </a:p>
          <a:p>
            <a:pPr marL="342900" indent="-342900">
              <a:lnSpc>
                <a:spcPct val="107000"/>
              </a:lnSpc>
              <a:spcBef>
                <a:spcPts val="0"/>
              </a:spcBef>
              <a:spcAft>
                <a:spcPts val="800"/>
              </a:spcAft>
              <a:buFont typeface="+mj-lt"/>
              <a:buAutoNum type="arabicPeriod"/>
              <a:tabLst>
                <a:tab pos="457200" algn="l"/>
              </a:tabLst>
            </a:pPr>
            <a:r>
              <a:rPr lang="en-US" sz="1800" b="1" dirty="0">
                <a:latin typeface="Times New Roman" panose="02020603050405020304" pitchFamily="18" charset="0"/>
                <a:ea typeface="Times New Roman" panose="02020603050405020304" pitchFamily="18" charset="0"/>
                <a:cs typeface="Arial" panose="020B0604020202020204" pitchFamily="34" charset="0"/>
              </a:rPr>
              <a:t>Which specific product is the "Best Seller" by quantity?</a:t>
            </a:r>
            <a:endParaRPr lang="en-US" sz="1800" dirty="0">
              <a:latin typeface="Calibri" panose="020F0502020204030204" pitchFamily="34" charset="0"/>
              <a:ea typeface="Calibri" panose="020F0502020204030204" pitchFamily="34" charset="0"/>
              <a:cs typeface="Arial" panose="020B0604020202020204" pitchFamily="34" charset="0"/>
            </a:endParaRPr>
          </a:p>
        </p:txBody>
      </p:sp>
      <p:sp>
        <p:nvSpPr>
          <p:cNvPr id="4" name="Arrow: Right 3">
            <a:hlinkClick r:id="rId2" action="ppaction://hlinksldjump" highlightClick="1"/>
            <a:extLst>
              <a:ext uri="{FF2B5EF4-FFF2-40B4-BE49-F238E27FC236}">
                <a16:creationId xmlns:a16="http://schemas.microsoft.com/office/drawing/2014/main" id="{3B8C5A2A-D1CA-4223-BE1E-97B4F7A1F0BA}"/>
              </a:ext>
            </a:extLst>
          </p:cNvPr>
          <p:cNvSpPr/>
          <p:nvPr/>
        </p:nvSpPr>
        <p:spPr>
          <a:xfrm rot="10800000">
            <a:off x="152124" y="6367552"/>
            <a:ext cx="410649" cy="3823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hlinkClick r:id="rId3" action="ppaction://hlinksldjump" highlightClick="1"/>
            <a:extLst>
              <a:ext uri="{FF2B5EF4-FFF2-40B4-BE49-F238E27FC236}">
                <a16:creationId xmlns:a16="http://schemas.microsoft.com/office/drawing/2014/main" id="{C38811B9-CA27-486A-8AA9-A5E60EFCAF36}"/>
              </a:ext>
            </a:extLst>
          </p:cNvPr>
          <p:cNvSpPr/>
          <p:nvPr/>
        </p:nvSpPr>
        <p:spPr>
          <a:xfrm>
            <a:off x="8533015" y="6367552"/>
            <a:ext cx="411480" cy="384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dotDmnd">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EA500-1CCE-425C-8440-612329507861}"/>
              </a:ext>
            </a:extLst>
          </p:cNvPr>
          <p:cNvSpPr>
            <a:spLocks noGrp="1"/>
          </p:cNvSpPr>
          <p:nvPr>
            <p:ph type="title" idx="4294967295"/>
          </p:nvPr>
        </p:nvSpPr>
        <p:spPr>
          <a:xfrm>
            <a:off x="523702" y="1416050"/>
            <a:ext cx="8096596" cy="1692910"/>
          </a:xfrm>
          <a:noFill/>
        </p:spPr>
        <p:txBody>
          <a:bodyPr>
            <a:noAutofit/>
          </a:bodyPr>
          <a:lstStyle/>
          <a:p>
            <a:pPr>
              <a:spcBef>
                <a:spcPts val="0"/>
              </a:spcBef>
            </a:pPr>
            <a:r>
              <a:rPr lang="en-US" sz="6600" b="1" dirty="0">
                <a:solidFill>
                  <a:schemeClr val="tx1"/>
                </a:solidFill>
              </a:rPr>
              <a:t>Performance OVERVIEW</a:t>
            </a:r>
          </a:p>
        </p:txBody>
      </p:sp>
      <p:sp>
        <p:nvSpPr>
          <p:cNvPr id="3" name="Content Placeholder 2">
            <a:extLst>
              <a:ext uri="{FF2B5EF4-FFF2-40B4-BE49-F238E27FC236}">
                <a16:creationId xmlns:a16="http://schemas.microsoft.com/office/drawing/2014/main" id="{930706A9-CD5F-4BB5-AC18-76B1C1FF3C46}"/>
              </a:ext>
            </a:extLst>
          </p:cNvPr>
          <p:cNvSpPr>
            <a:spLocks noGrp="1"/>
          </p:cNvSpPr>
          <p:nvPr>
            <p:ph idx="4294967295"/>
          </p:nvPr>
        </p:nvSpPr>
        <p:spPr>
          <a:xfrm>
            <a:off x="927100" y="3948979"/>
            <a:ext cx="7289800" cy="1562100"/>
          </a:xfrm>
        </p:spPr>
        <p:txBody>
          <a:bodyPr>
            <a:normAutofit/>
          </a:bodyPr>
          <a:lstStyle/>
          <a:p>
            <a:pPr algn="ctr">
              <a:spcBef>
                <a:spcPts val="0"/>
              </a:spcBef>
              <a:spcAft>
                <a:spcPts val="0"/>
              </a:spcAft>
            </a:pPr>
            <a:r>
              <a:rPr lang="en-US" sz="2800" b="1" dirty="0">
                <a:latin typeface="Lato" panose="020F0502020204030203" pitchFamily="34" charset="0"/>
              </a:rPr>
              <a:t>A deep dive into historical data and current operational performance metrics across all zones.</a:t>
            </a:r>
            <a:endParaRPr lang="en-US" sz="3200" b="1" dirty="0"/>
          </a:p>
        </p:txBody>
      </p:sp>
      <p:sp>
        <p:nvSpPr>
          <p:cNvPr id="7" name="Rectangle: Rounded Corners 6">
            <a:hlinkClick r:id="rId2" action="ppaction://hlinksldjump"/>
            <a:extLst>
              <a:ext uri="{FF2B5EF4-FFF2-40B4-BE49-F238E27FC236}">
                <a16:creationId xmlns:a16="http://schemas.microsoft.com/office/drawing/2014/main" id="{DBF1B5A6-BF42-41CA-A69E-5020A077C690}"/>
              </a:ext>
            </a:extLst>
          </p:cNvPr>
          <p:cNvSpPr/>
          <p:nvPr/>
        </p:nvSpPr>
        <p:spPr>
          <a:xfrm>
            <a:off x="523702" y="1416050"/>
            <a:ext cx="8096596" cy="1562100"/>
          </a:xfrm>
          <a:prstGeom prst="roundRect">
            <a:avLst/>
          </a:prstGeom>
          <a:noFill/>
          <a:ln w="28575" cap="flat" cmpd="sng" algn="ctr">
            <a:solidFill>
              <a:schemeClr val="dk1"/>
            </a:solidFill>
            <a:prstDash val="solid"/>
            <a:round/>
            <a:headEnd type="none" w="med" len="med"/>
            <a:tailEnd type="none" w="med" len="med"/>
          </a:ln>
          <a:effectLst>
            <a:glow rad="101600">
              <a:schemeClr val="accent2">
                <a:satMod val="175000"/>
                <a:alpha val="40000"/>
              </a:schemeClr>
            </a:glow>
          </a:effectLst>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95096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65498-A8E5-40F9-84DC-A6270D1290B3}"/>
              </a:ext>
            </a:extLst>
          </p:cNvPr>
          <p:cNvSpPr>
            <a:spLocks noGrp="1"/>
          </p:cNvSpPr>
          <p:nvPr>
            <p:ph type="title"/>
          </p:nvPr>
        </p:nvSpPr>
        <p:spPr>
          <a:xfrm>
            <a:off x="768095" y="822960"/>
            <a:ext cx="1965960" cy="813816"/>
          </a:xfrm>
        </p:spPr>
        <p:txBody>
          <a:bodyPr/>
          <a:lstStyle/>
          <a:p>
            <a:r>
              <a:rPr lang="en-US" b="1" dirty="0"/>
              <a:t>EXCEL</a:t>
            </a:r>
          </a:p>
        </p:txBody>
      </p:sp>
      <p:pic>
        <p:nvPicPr>
          <p:cNvPr id="12" name="Content Placeholder 11">
            <a:extLst>
              <a:ext uri="{FF2B5EF4-FFF2-40B4-BE49-F238E27FC236}">
                <a16:creationId xmlns:a16="http://schemas.microsoft.com/office/drawing/2014/main" id="{37DA5AC6-62A9-4DE0-A77C-0A78993F0E51}"/>
              </a:ext>
            </a:extLst>
          </p:cNvPr>
          <p:cNvPicPr>
            <a:picLocks noGrp="1" noChangeAspect="1"/>
          </p:cNvPicPr>
          <p:nvPr>
            <p:ph idx="1"/>
          </p:nvPr>
        </p:nvPicPr>
        <p:blipFill>
          <a:blip r:embed="rId2"/>
          <a:stretch>
            <a:fillRect/>
          </a:stretch>
        </p:blipFill>
        <p:spPr>
          <a:xfrm>
            <a:off x="3582784" y="1246192"/>
            <a:ext cx="5336772" cy="5054859"/>
          </a:xfrm>
          <a:effectLst>
            <a:glow rad="38100">
              <a:schemeClr val="accent2">
                <a:satMod val="175000"/>
                <a:alpha val="40000"/>
              </a:schemeClr>
            </a:glow>
          </a:effectLst>
        </p:spPr>
      </p:pic>
      <p:sp>
        <p:nvSpPr>
          <p:cNvPr id="4" name="Text Placeholder 3">
            <a:extLst>
              <a:ext uri="{FF2B5EF4-FFF2-40B4-BE49-F238E27FC236}">
                <a16:creationId xmlns:a16="http://schemas.microsoft.com/office/drawing/2014/main" id="{3D983622-277F-424E-AB11-2675772E0B69}"/>
              </a:ext>
            </a:extLst>
          </p:cNvPr>
          <p:cNvSpPr>
            <a:spLocks noGrp="1"/>
          </p:cNvSpPr>
          <p:nvPr>
            <p:ph type="body" sz="half" idx="2"/>
          </p:nvPr>
        </p:nvSpPr>
        <p:spPr>
          <a:xfrm>
            <a:off x="562770" y="2103120"/>
            <a:ext cx="2820510" cy="3916680"/>
          </a:xfrm>
          <a:ln>
            <a:solidFill>
              <a:schemeClr val="accent1"/>
            </a:solidFill>
          </a:ln>
        </p:spPr>
        <p:txBody>
          <a:bodyPr>
            <a:normAutofit/>
          </a:bodyPr>
          <a:lstStyle/>
          <a:p>
            <a:pPr marL="285750" indent="-285750">
              <a:buClr>
                <a:schemeClr val="accent2"/>
              </a:buClr>
              <a:buFont typeface="Arial" panose="020B0604020202020204" pitchFamily="34" charset="0"/>
              <a:buChar char="•"/>
            </a:pPr>
            <a:r>
              <a:rPr lang="en-US" sz="1800" dirty="0"/>
              <a:t>Created calculated columns such as "Profit Margin", "Shipping Duration", “Discount %“ and more, using advanced Excel formulas. </a:t>
            </a:r>
          </a:p>
          <a:p>
            <a:pPr marL="285750" indent="-285750">
              <a:buClr>
                <a:schemeClr val="accent2"/>
              </a:buClr>
              <a:buFont typeface="Arial" panose="020B0604020202020204" pitchFamily="34" charset="0"/>
              <a:buChar char="•"/>
            </a:pPr>
            <a:r>
              <a:rPr lang="en-US" sz="1800" dirty="0"/>
              <a:t>To transform raw operational data into analytical measurements to measure profit/loss and reasons behind it.</a:t>
            </a:r>
          </a:p>
        </p:txBody>
      </p:sp>
      <p:sp>
        <p:nvSpPr>
          <p:cNvPr id="5" name="Arrow: Right 4">
            <a:hlinkClick r:id="rId3" action="ppaction://hlinksldjump" highlightClick="1"/>
            <a:extLst>
              <a:ext uri="{FF2B5EF4-FFF2-40B4-BE49-F238E27FC236}">
                <a16:creationId xmlns:a16="http://schemas.microsoft.com/office/drawing/2014/main" id="{C95E510E-981D-4D23-9626-D0AF0B416A87}"/>
              </a:ext>
            </a:extLst>
          </p:cNvPr>
          <p:cNvSpPr/>
          <p:nvPr/>
        </p:nvSpPr>
        <p:spPr>
          <a:xfrm rot="10800000">
            <a:off x="152124" y="6367552"/>
            <a:ext cx="410649" cy="3823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0F0C604B-09FE-488A-9F94-B10746F728CC}"/>
              </a:ext>
            </a:extLst>
          </p:cNvPr>
          <p:cNvSpPr/>
          <p:nvPr/>
        </p:nvSpPr>
        <p:spPr>
          <a:xfrm>
            <a:off x="3582784" y="465513"/>
            <a:ext cx="278316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b="1" u="sng" dirty="0">
                <a:solidFill>
                  <a:schemeClr val="tx1"/>
                </a:solidFill>
              </a:rPr>
              <a:t>The Added Columns:</a:t>
            </a:r>
          </a:p>
        </p:txBody>
      </p:sp>
      <p:sp>
        <p:nvSpPr>
          <p:cNvPr id="7" name="Rectangle: Rounded Corners 6">
            <a:hlinkClick r:id="rId4" action="ppaction://hlinksldjump" highlightClick="1"/>
            <a:extLst>
              <a:ext uri="{FF2B5EF4-FFF2-40B4-BE49-F238E27FC236}">
                <a16:creationId xmlns:a16="http://schemas.microsoft.com/office/drawing/2014/main" id="{E5C88A89-A227-4CA0-8503-F92B9B001C2B}"/>
              </a:ext>
            </a:extLst>
          </p:cNvPr>
          <p:cNvSpPr/>
          <p:nvPr/>
        </p:nvSpPr>
        <p:spPr>
          <a:xfrm>
            <a:off x="6475618" y="465513"/>
            <a:ext cx="993161"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Pivot</a:t>
            </a:r>
          </a:p>
        </p:txBody>
      </p:sp>
      <p:sp>
        <p:nvSpPr>
          <p:cNvPr id="8" name="Rectangle: Rounded Corners 7">
            <a:hlinkClick r:id="rId5" action="ppaction://hlinksldjump" highlightClick="1"/>
            <a:extLst>
              <a:ext uri="{FF2B5EF4-FFF2-40B4-BE49-F238E27FC236}">
                <a16:creationId xmlns:a16="http://schemas.microsoft.com/office/drawing/2014/main" id="{74B87128-63CC-4C77-A96A-A95389CF3C55}"/>
              </a:ext>
            </a:extLst>
          </p:cNvPr>
          <p:cNvSpPr/>
          <p:nvPr/>
        </p:nvSpPr>
        <p:spPr>
          <a:xfrm>
            <a:off x="7578437" y="465513"/>
            <a:ext cx="1238596"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Dash Board</a:t>
            </a:r>
          </a:p>
        </p:txBody>
      </p:sp>
    </p:spTree>
    <p:extLst>
      <p:ext uri="{BB962C8B-B14F-4D97-AF65-F5344CB8AC3E}">
        <p14:creationId xmlns:p14="http://schemas.microsoft.com/office/powerpoint/2010/main" val="3097766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32364328-F01A-47D7-9B18-7A3A1D90C283}"/>
              </a:ext>
            </a:extLst>
          </p:cNvPr>
          <p:cNvPicPr>
            <a:picLocks noGrp="1" noChangeAspect="1"/>
          </p:cNvPicPr>
          <p:nvPr>
            <p:ph idx="1"/>
          </p:nvPr>
        </p:nvPicPr>
        <p:blipFill>
          <a:blip r:embed="rId2"/>
          <a:stretch>
            <a:fillRect/>
          </a:stretch>
        </p:blipFill>
        <p:spPr>
          <a:xfrm>
            <a:off x="3591101" y="1291665"/>
            <a:ext cx="5377697" cy="4964027"/>
          </a:xfrm>
          <a:effectLst>
            <a:glow rad="38100">
              <a:schemeClr val="accent2">
                <a:satMod val="175000"/>
                <a:alpha val="40000"/>
              </a:schemeClr>
            </a:glow>
          </a:effectLst>
        </p:spPr>
      </p:pic>
      <p:sp>
        <p:nvSpPr>
          <p:cNvPr id="4" name="Text Placeholder 3">
            <a:extLst>
              <a:ext uri="{FF2B5EF4-FFF2-40B4-BE49-F238E27FC236}">
                <a16:creationId xmlns:a16="http://schemas.microsoft.com/office/drawing/2014/main" id="{4B6EFB8B-68A9-4A24-A4F9-4EBD9717DCA9}"/>
              </a:ext>
            </a:extLst>
          </p:cNvPr>
          <p:cNvSpPr>
            <a:spLocks noGrp="1"/>
          </p:cNvSpPr>
          <p:nvPr>
            <p:ph type="body" sz="half" idx="2"/>
          </p:nvPr>
        </p:nvSpPr>
        <p:spPr>
          <a:xfrm>
            <a:off x="566928" y="2103120"/>
            <a:ext cx="2825496" cy="3913632"/>
          </a:xfrm>
          <a:ln>
            <a:solidFill>
              <a:schemeClr val="accent1"/>
            </a:solidFill>
          </a:ln>
        </p:spPr>
        <p:txBody>
          <a:bodyPr>
            <a:normAutofit fontScale="92500" lnSpcReduction="10000"/>
          </a:bodyPr>
          <a:lstStyle/>
          <a:p>
            <a:pPr marL="285750" indent="-285750">
              <a:buClr>
                <a:schemeClr val="accent2"/>
              </a:buClr>
              <a:buFont typeface="Arial" panose="020B0604020202020204" pitchFamily="34" charset="0"/>
              <a:buChar char="•"/>
            </a:pPr>
            <a:r>
              <a:rPr lang="en-US" sz="1800" dirty="0"/>
              <a:t>Managed to built dynamic Pivot Tables to aggregate sales by “Region," "Product Category," and “Sales”.</a:t>
            </a:r>
          </a:p>
          <a:p>
            <a:pPr marL="285750" indent="-285750">
              <a:buClr>
                <a:schemeClr val="accent2"/>
              </a:buClr>
              <a:buFont typeface="Arial" panose="020B0604020202020204" pitchFamily="34" charset="0"/>
              <a:buChar char="•"/>
            </a:pPr>
            <a:r>
              <a:rPr lang="en-US" sz="1800" dirty="0"/>
              <a:t>To summarize our rows into clear answers. This allows us to instantly identify which regions are hitting targets and where the inventory is moving and measure our customer Loyalty and how to improve our services and provide wider coverage.</a:t>
            </a:r>
          </a:p>
          <a:p>
            <a:pPr marL="285750" indent="-285750">
              <a:buFont typeface="Arial" panose="020B0604020202020204" pitchFamily="34" charset="0"/>
              <a:buChar char="•"/>
            </a:pPr>
            <a:endParaRPr lang="en-US" dirty="0"/>
          </a:p>
        </p:txBody>
      </p:sp>
      <p:sp>
        <p:nvSpPr>
          <p:cNvPr id="5" name="Title 1">
            <a:extLst>
              <a:ext uri="{FF2B5EF4-FFF2-40B4-BE49-F238E27FC236}">
                <a16:creationId xmlns:a16="http://schemas.microsoft.com/office/drawing/2014/main" id="{C4D27C39-EE90-4470-B05B-F4B8D0382CB3}"/>
              </a:ext>
            </a:extLst>
          </p:cNvPr>
          <p:cNvSpPr>
            <a:spLocks noGrp="1"/>
          </p:cNvSpPr>
          <p:nvPr>
            <p:ph type="title"/>
          </p:nvPr>
        </p:nvSpPr>
        <p:spPr>
          <a:xfrm>
            <a:off x="768100" y="822964"/>
            <a:ext cx="1966537" cy="816985"/>
          </a:xfrm>
        </p:spPr>
        <p:txBody>
          <a:bodyPr/>
          <a:lstStyle/>
          <a:p>
            <a:r>
              <a:rPr lang="en-US" b="1" dirty="0"/>
              <a:t>EXCEL</a:t>
            </a:r>
          </a:p>
        </p:txBody>
      </p:sp>
      <p:sp>
        <p:nvSpPr>
          <p:cNvPr id="6" name="Rectangle: Rounded Corners 5">
            <a:extLst>
              <a:ext uri="{FF2B5EF4-FFF2-40B4-BE49-F238E27FC236}">
                <a16:creationId xmlns:a16="http://schemas.microsoft.com/office/drawing/2014/main" id="{CF02ECCE-26F7-4A10-96F5-08D3E61EF501}"/>
              </a:ext>
            </a:extLst>
          </p:cNvPr>
          <p:cNvSpPr/>
          <p:nvPr/>
        </p:nvSpPr>
        <p:spPr>
          <a:xfrm>
            <a:off x="3591101" y="465513"/>
            <a:ext cx="2202873"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u="sng" dirty="0">
                <a:solidFill>
                  <a:schemeClr val="tx1"/>
                </a:solidFill>
              </a:rPr>
              <a:t>The Pivot Table:</a:t>
            </a:r>
          </a:p>
        </p:txBody>
      </p:sp>
      <p:sp>
        <p:nvSpPr>
          <p:cNvPr id="7" name="Rectangle: Rounded Corners 6">
            <a:hlinkClick r:id="rId3" action="ppaction://hlinksldjump" highlightClick="1"/>
            <a:extLst>
              <a:ext uri="{FF2B5EF4-FFF2-40B4-BE49-F238E27FC236}">
                <a16:creationId xmlns:a16="http://schemas.microsoft.com/office/drawing/2014/main" id="{7E1A8A7B-582A-4AC7-A707-70319B1DD60F}"/>
              </a:ext>
            </a:extLst>
          </p:cNvPr>
          <p:cNvSpPr/>
          <p:nvPr/>
        </p:nvSpPr>
        <p:spPr>
          <a:xfrm>
            <a:off x="5893727" y="465513"/>
            <a:ext cx="1587731"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Added Columns</a:t>
            </a:r>
          </a:p>
        </p:txBody>
      </p:sp>
      <p:sp>
        <p:nvSpPr>
          <p:cNvPr id="8" name="Rectangle: Rounded Corners 7">
            <a:hlinkClick r:id="rId4" action="ppaction://hlinksldjump" highlightClick="1"/>
            <a:extLst>
              <a:ext uri="{FF2B5EF4-FFF2-40B4-BE49-F238E27FC236}">
                <a16:creationId xmlns:a16="http://schemas.microsoft.com/office/drawing/2014/main" id="{8B13A624-93D4-49F6-9B91-F94376D0706E}"/>
              </a:ext>
            </a:extLst>
          </p:cNvPr>
          <p:cNvSpPr/>
          <p:nvPr/>
        </p:nvSpPr>
        <p:spPr>
          <a:xfrm>
            <a:off x="7581207" y="465513"/>
            <a:ext cx="1235826"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Dash Board</a:t>
            </a:r>
          </a:p>
        </p:txBody>
      </p:sp>
      <p:sp>
        <p:nvSpPr>
          <p:cNvPr id="9" name="Arrow: Right 8">
            <a:hlinkClick r:id="rId5" action="ppaction://hlinksldjump" highlightClick="1"/>
            <a:extLst>
              <a:ext uri="{FF2B5EF4-FFF2-40B4-BE49-F238E27FC236}">
                <a16:creationId xmlns:a16="http://schemas.microsoft.com/office/drawing/2014/main" id="{0BDB8642-0A11-4392-8612-69ADF41ADC05}"/>
              </a:ext>
            </a:extLst>
          </p:cNvPr>
          <p:cNvSpPr/>
          <p:nvPr/>
        </p:nvSpPr>
        <p:spPr>
          <a:xfrm rot="10800000">
            <a:off x="152124" y="6367552"/>
            <a:ext cx="410649" cy="3823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2759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E95DE-3ED3-4A47-9308-D17999340DC9}"/>
              </a:ext>
            </a:extLst>
          </p:cNvPr>
          <p:cNvSpPr>
            <a:spLocks noGrp="1"/>
          </p:cNvSpPr>
          <p:nvPr>
            <p:ph type="title"/>
          </p:nvPr>
        </p:nvSpPr>
        <p:spPr>
          <a:xfrm>
            <a:off x="768096" y="822960"/>
            <a:ext cx="1965960" cy="813816"/>
          </a:xfrm>
        </p:spPr>
        <p:txBody>
          <a:bodyPr/>
          <a:lstStyle/>
          <a:p>
            <a:r>
              <a:rPr lang="en-US" b="1" dirty="0"/>
              <a:t>EXCEL</a:t>
            </a:r>
          </a:p>
        </p:txBody>
      </p:sp>
      <p:pic>
        <p:nvPicPr>
          <p:cNvPr id="10" name="Content Placeholder 9">
            <a:extLst>
              <a:ext uri="{FF2B5EF4-FFF2-40B4-BE49-F238E27FC236}">
                <a16:creationId xmlns:a16="http://schemas.microsoft.com/office/drawing/2014/main" id="{8BC288A6-FCE2-4C7A-B9C7-8F4740C6ACF5}"/>
              </a:ext>
            </a:extLst>
          </p:cNvPr>
          <p:cNvPicPr>
            <a:picLocks noGrp="1" noChangeAspect="1"/>
          </p:cNvPicPr>
          <p:nvPr>
            <p:ph idx="1"/>
          </p:nvPr>
        </p:nvPicPr>
        <p:blipFill>
          <a:blip r:embed="rId2"/>
          <a:stretch>
            <a:fillRect/>
          </a:stretch>
        </p:blipFill>
        <p:spPr>
          <a:xfrm>
            <a:off x="3582788" y="1223133"/>
            <a:ext cx="5394961" cy="5105977"/>
          </a:xfrm>
          <a:effectLst>
            <a:glow rad="38100">
              <a:schemeClr val="accent2">
                <a:satMod val="175000"/>
                <a:alpha val="40000"/>
              </a:schemeClr>
            </a:glow>
          </a:effectLst>
        </p:spPr>
      </p:pic>
      <p:sp>
        <p:nvSpPr>
          <p:cNvPr id="4" name="Text Placeholder 3">
            <a:extLst>
              <a:ext uri="{FF2B5EF4-FFF2-40B4-BE49-F238E27FC236}">
                <a16:creationId xmlns:a16="http://schemas.microsoft.com/office/drawing/2014/main" id="{B71ECB92-66CE-495B-99C9-BBDF9191FEF7}"/>
              </a:ext>
            </a:extLst>
          </p:cNvPr>
          <p:cNvSpPr>
            <a:spLocks noGrp="1"/>
          </p:cNvSpPr>
          <p:nvPr>
            <p:ph type="body" sz="half" idx="2"/>
          </p:nvPr>
        </p:nvSpPr>
        <p:spPr>
          <a:xfrm>
            <a:off x="566928" y="1980749"/>
            <a:ext cx="2825496" cy="4036007"/>
          </a:xfrm>
          <a:ln>
            <a:solidFill>
              <a:schemeClr val="accent1"/>
            </a:solidFill>
          </a:ln>
        </p:spPr>
        <p:txBody>
          <a:bodyPr>
            <a:noAutofit/>
          </a:bodyPr>
          <a:lstStyle/>
          <a:p>
            <a:pPr marL="285750" indent="-285750">
              <a:buFont typeface="Arial" panose="020B0604020202020204" pitchFamily="34" charset="0"/>
              <a:buChar char="•"/>
            </a:pPr>
            <a:r>
              <a:rPr lang="en-US" sz="1630" dirty="0"/>
              <a:t>Developed a visual interface using Charts, Slicers, and Timeline filters for a "one-look" performance view.</a:t>
            </a:r>
          </a:p>
          <a:p>
            <a:pPr marL="285750" indent="-285750">
              <a:buFont typeface="Arial" panose="020B0604020202020204" pitchFamily="34" charset="0"/>
              <a:buChar char="•"/>
            </a:pPr>
            <a:r>
              <a:rPr lang="en-US" sz="1630" dirty="0"/>
              <a:t>The we used the slicers to filter using most two important factors in the market which are time and location, using the filters provide high quality data the helps company’s Growth.</a:t>
            </a:r>
          </a:p>
          <a:p>
            <a:pPr marL="285750" indent="-285750">
              <a:buFont typeface="Arial" panose="020B0604020202020204" pitchFamily="34" charset="0"/>
              <a:buChar char="•"/>
            </a:pPr>
            <a:r>
              <a:rPr lang="en-US" sz="1630" dirty="0"/>
              <a:t>making the insights accessible and actionable.</a:t>
            </a:r>
          </a:p>
        </p:txBody>
      </p:sp>
      <p:sp>
        <p:nvSpPr>
          <p:cNvPr id="5" name="Rectangle: Rounded Corners 4">
            <a:extLst>
              <a:ext uri="{FF2B5EF4-FFF2-40B4-BE49-F238E27FC236}">
                <a16:creationId xmlns:a16="http://schemas.microsoft.com/office/drawing/2014/main" id="{B91B8626-19C1-4C4A-B255-4429D316CBD5}"/>
              </a:ext>
            </a:extLst>
          </p:cNvPr>
          <p:cNvSpPr/>
          <p:nvPr/>
        </p:nvSpPr>
        <p:spPr>
          <a:xfrm>
            <a:off x="3582788" y="465513"/>
            <a:ext cx="268376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b="1" u="sng" dirty="0">
                <a:solidFill>
                  <a:schemeClr val="tx1"/>
                </a:solidFill>
              </a:rPr>
              <a:t>The Dash Board : </a:t>
            </a:r>
          </a:p>
        </p:txBody>
      </p:sp>
      <p:sp>
        <p:nvSpPr>
          <p:cNvPr id="6" name="Rectangle: Rounded Corners 5">
            <a:hlinkClick r:id="rId3" action="ppaction://hlinksldjump" highlightClick="1"/>
            <a:extLst>
              <a:ext uri="{FF2B5EF4-FFF2-40B4-BE49-F238E27FC236}">
                <a16:creationId xmlns:a16="http://schemas.microsoft.com/office/drawing/2014/main" id="{C054904C-3835-43C9-BEB4-757FD6DB4186}"/>
              </a:ext>
            </a:extLst>
          </p:cNvPr>
          <p:cNvSpPr/>
          <p:nvPr/>
        </p:nvSpPr>
        <p:spPr>
          <a:xfrm>
            <a:off x="6359236" y="465513"/>
            <a:ext cx="76352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Pivot</a:t>
            </a:r>
          </a:p>
        </p:txBody>
      </p:sp>
      <p:sp>
        <p:nvSpPr>
          <p:cNvPr id="7" name="Rectangle: Rounded Corners 6">
            <a:hlinkClick r:id="rId4" action="ppaction://hlinksldjump" highlightClick="1"/>
            <a:extLst>
              <a:ext uri="{FF2B5EF4-FFF2-40B4-BE49-F238E27FC236}">
                <a16:creationId xmlns:a16="http://schemas.microsoft.com/office/drawing/2014/main" id="{85EA5C35-0D9D-4773-A440-7D6306C4CD4C}"/>
              </a:ext>
            </a:extLst>
          </p:cNvPr>
          <p:cNvSpPr/>
          <p:nvPr/>
        </p:nvSpPr>
        <p:spPr>
          <a:xfrm>
            <a:off x="7215451" y="465513"/>
            <a:ext cx="1601587"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Added</a:t>
            </a:r>
            <a:r>
              <a:rPr lang="en-US" b="1" dirty="0">
                <a:solidFill>
                  <a:schemeClr val="tx1"/>
                </a:solidFill>
              </a:rPr>
              <a:t> </a:t>
            </a:r>
            <a:r>
              <a:rPr lang="en-US" sz="1600" b="1" dirty="0">
                <a:solidFill>
                  <a:schemeClr val="tx1"/>
                </a:solidFill>
              </a:rPr>
              <a:t>Columns</a:t>
            </a:r>
            <a:endParaRPr lang="en-US" b="1" dirty="0">
              <a:solidFill>
                <a:schemeClr val="tx1"/>
              </a:solidFill>
            </a:endParaRPr>
          </a:p>
        </p:txBody>
      </p:sp>
      <p:sp>
        <p:nvSpPr>
          <p:cNvPr id="8" name="Arrow: Right 7">
            <a:hlinkClick r:id="rId5" action="ppaction://hlinksldjump" highlightClick="1"/>
            <a:extLst>
              <a:ext uri="{FF2B5EF4-FFF2-40B4-BE49-F238E27FC236}">
                <a16:creationId xmlns:a16="http://schemas.microsoft.com/office/drawing/2014/main" id="{3C9CC7B3-67B1-4F17-A878-D6021EE1EB2F}"/>
              </a:ext>
            </a:extLst>
          </p:cNvPr>
          <p:cNvSpPr/>
          <p:nvPr/>
        </p:nvSpPr>
        <p:spPr>
          <a:xfrm rot="10800000">
            <a:off x="152124" y="6367552"/>
            <a:ext cx="410649" cy="3823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3338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BCB07-9105-4561-854F-3EE6CECF99A7}"/>
              </a:ext>
            </a:extLst>
          </p:cNvPr>
          <p:cNvSpPr>
            <a:spLocks noGrp="1"/>
          </p:cNvSpPr>
          <p:nvPr>
            <p:ph type="title"/>
          </p:nvPr>
        </p:nvSpPr>
        <p:spPr>
          <a:xfrm>
            <a:off x="768096" y="822964"/>
            <a:ext cx="3291840" cy="856211"/>
          </a:xfrm>
        </p:spPr>
        <p:txBody>
          <a:bodyPr/>
          <a:lstStyle/>
          <a:p>
            <a:r>
              <a:rPr lang="en-US" b="1" dirty="0" err="1"/>
              <a:t>Sql</a:t>
            </a:r>
            <a:r>
              <a:rPr lang="en-US" b="1" dirty="0"/>
              <a:t> </a:t>
            </a:r>
            <a:r>
              <a:rPr lang="en-US" b="1" dirty="0" err="1"/>
              <a:t>sERVER</a:t>
            </a:r>
            <a:endParaRPr lang="en-US" b="1" dirty="0"/>
          </a:p>
        </p:txBody>
      </p:sp>
      <p:sp>
        <p:nvSpPr>
          <p:cNvPr id="4" name="Text Placeholder 3">
            <a:extLst>
              <a:ext uri="{FF2B5EF4-FFF2-40B4-BE49-F238E27FC236}">
                <a16:creationId xmlns:a16="http://schemas.microsoft.com/office/drawing/2014/main" id="{D41B2F2A-5F68-46A5-9E5A-25F7A94AAC21}"/>
              </a:ext>
            </a:extLst>
          </p:cNvPr>
          <p:cNvSpPr>
            <a:spLocks noGrp="1"/>
          </p:cNvSpPr>
          <p:nvPr>
            <p:ph type="body" sz="half" idx="2"/>
          </p:nvPr>
        </p:nvSpPr>
        <p:spPr>
          <a:xfrm>
            <a:off x="562772" y="1969331"/>
            <a:ext cx="3571081" cy="4282244"/>
          </a:xfrm>
          <a:ln>
            <a:solidFill>
              <a:schemeClr val="accent1"/>
            </a:solidFill>
          </a:ln>
        </p:spPr>
        <p:txBody>
          <a:bodyPr>
            <a:normAutofit lnSpcReduction="10000"/>
          </a:bodyPr>
          <a:lstStyle/>
          <a:p>
            <a:pPr marL="285750" indent="-285750">
              <a:buClr>
                <a:schemeClr val="accent2"/>
              </a:buClr>
              <a:buFont typeface="Arial" panose="020B0604020202020204" pitchFamily="34" charset="0"/>
              <a:buChar char="•"/>
            </a:pPr>
            <a:r>
              <a:rPr lang="en-US" b="1" dirty="0"/>
              <a:t>Locating Late-Shipment Bottlenecks:</a:t>
            </a:r>
            <a:r>
              <a:rPr lang="en-US" dirty="0"/>
              <a:t> We tracked late orders by state to find shipping issues. </a:t>
            </a:r>
            <a:r>
              <a:rPr lang="en-US" b="1" dirty="0"/>
              <a:t>California</a:t>
            </a:r>
            <a:r>
              <a:rPr lang="en-US" dirty="0"/>
              <a:t> has the highest number of delays.</a:t>
            </a:r>
          </a:p>
          <a:p>
            <a:pPr marL="285750" indent="-285750">
              <a:buClr>
                <a:schemeClr val="accent2"/>
              </a:buClr>
              <a:buFont typeface="Arial" panose="020B0604020202020204" pitchFamily="34" charset="0"/>
              <a:buChar char="•"/>
            </a:pPr>
            <a:r>
              <a:rPr lang="en-US" b="1" dirty="0"/>
              <a:t>Measuring the Cost of Delays:</a:t>
            </a:r>
            <a:r>
              <a:rPr lang="en-US" dirty="0"/>
              <a:t> We queried the database to see how late shipments affect profit and it shows that On-time orders average </a:t>
            </a:r>
            <a:r>
              <a:rPr lang="en-US" b="1" dirty="0"/>
              <a:t>$60</a:t>
            </a:r>
            <a:r>
              <a:rPr lang="en-US" dirty="0"/>
              <a:t> in profit, while delayed orders drop to </a:t>
            </a:r>
            <a:r>
              <a:rPr lang="en-US" b="1" dirty="0"/>
              <a:t>$49</a:t>
            </a:r>
            <a:r>
              <a:rPr lang="en-US" dirty="0"/>
              <a:t>.</a:t>
            </a:r>
          </a:p>
          <a:p>
            <a:pPr marL="285750" indent="-285750">
              <a:buClr>
                <a:schemeClr val="accent2"/>
              </a:buClr>
              <a:buFont typeface="Arial" panose="020B0604020202020204" pitchFamily="34" charset="0"/>
              <a:buChar char="•"/>
            </a:pPr>
            <a:r>
              <a:rPr lang="en-US" b="1" dirty="0"/>
              <a:t>The Database Bridge:</a:t>
            </a:r>
            <a:r>
              <a:rPr lang="en-US" dirty="0"/>
              <a:t> Imported the clean, duplicate-free dataset from our Python pipeline directly into SQL Server as a structured table.</a:t>
            </a:r>
          </a:p>
          <a:p>
            <a:r>
              <a:rPr lang="en-US" dirty="0"/>
              <a:t>	</a:t>
            </a:r>
          </a:p>
          <a:p>
            <a:endParaRPr lang="en-US" dirty="0"/>
          </a:p>
        </p:txBody>
      </p:sp>
      <p:sp>
        <p:nvSpPr>
          <p:cNvPr id="5" name="Arrow: Right 4">
            <a:hlinkClick r:id="rId2" action="ppaction://hlinksldjump" highlightClick="1"/>
            <a:extLst>
              <a:ext uri="{FF2B5EF4-FFF2-40B4-BE49-F238E27FC236}">
                <a16:creationId xmlns:a16="http://schemas.microsoft.com/office/drawing/2014/main" id="{C3C1103B-5FF2-4CDC-AAFE-2C29A20E3B38}"/>
              </a:ext>
            </a:extLst>
          </p:cNvPr>
          <p:cNvSpPr/>
          <p:nvPr/>
        </p:nvSpPr>
        <p:spPr>
          <a:xfrm rot="10800000">
            <a:off x="152124" y="6367552"/>
            <a:ext cx="410649" cy="3823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C5C43658-6243-4619-8B8C-77A8E705AC35}"/>
              </a:ext>
            </a:extLst>
          </p:cNvPr>
          <p:cNvSpPr txBox="1">
            <a:spLocks/>
          </p:cNvSpPr>
          <p:nvPr/>
        </p:nvSpPr>
        <p:spPr>
          <a:xfrm>
            <a:off x="4438650" y="3652058"/>
            <a:ext cx="4258818" cy="250795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pPr marL="0" indent="0">
              <a:buNone/>
            </a:pPr>
            <a:endParaRPr lang="en-US" dirty="0"/>
          </a:p>
        </p:txBody>
      </p:sp>
      <p:pic>
        <p:nvPicPr>
          <p:cNvPr id="24" name="Picture 23">
            <a:extLst>
              <a:ext uri="{FF2B5EF4-FFF2-40B4-BE49-F238E27FC236}">
                <a16:creationId xmlns:a16="http://schemas.microsoft.com/office/drawing/2014/main" id="{832DB675-203B-4D76-B3A4-00C326FEC8FB}"/>
              </a:ext>
            </a:extLst>
          </p:cNvPr>
          <p:cNvPicPr>
            <a:picLocks noChangeAspect="1"/>
          </p:cNvPicPr>
          <p:nvPr/>
        </p:nvPicPr>
        <p:blipFill>
          <a:blip r:embed="rId3"/>
          <a:stretch>
            <a:fillRect/>
          </a:stretch>
        </p:blipFill>
        <p:spPr>
          <a:xfrm>
            <a:off x="4367276" y="2911808"/>
            <a:ext cx="4624604" cy="3339771"/>
          </a:xfrm>
          <a:prstGeom prst="rect">
            <a:avLst/>
          </a:prstGeom>
          <a:effectLst>
            <a:glow rad="38100">
              <a:schemeClr val="accent2">
                <a:satMod val="175000"/>
                <a:alpha val="40000"/>
              </a:schemeClr>
            </a:glow>
          </a:effectLst>
        </p:spPr>
      </p:pic>
      <p:pic>
        <p:nvPicPr>
          <p:cNvPr id="38" name="Content Placeholder 37">
            <a:extLst>
              <a:ext uri="{FF2B5EF4-FFF2-40B4-BE49-F238E27FC236}">
                <a16:creationId xmlns:a16="http://schemas.microsoft.com/office/drawing/2014/main" id="{5E126C6E-AFF2-4533-9A54-F645C27D4C99}"/>
              </a:ext>
            </a:extLst>
          </p:cNvPr>
          <p:cNvPicPr>
            <a:picLocks noGrp="1" noChangeAspect="1"/>
          </p:cNvPicPr>
          <p:nvPr>
            <p:ph idx="1"/>
          </p:nvPr>
        </p:nvPicPr>
        <p:blipFill>
          <a:blip r:embed="rId4"/>
          <a:stretch>
            <a:fillRect/>
          </a:stretch>
        </p:blipFill>
        <p:spPr>
          <a:xfrm>
            <a:off x="4367275" y="307575"/>
            <a:ext cx="4624604" cy="2436207"/>
          </a:xfrm>
          <a:ln>
            <a:solidFill>
              <a:schemeClr val="accent1"/>
            </a:solidFill>
          </a:ln>
          <a:effectLst>
            <a:glow rad="25400">
              <a:schemeClr val="accent2">
                <a:satMod val="175000"/>
                <a:alpha val="40000"/>
              </a:schemeClr>
            </a:glow>
          </a:effectLst>
        </p:spPr>
      </p:pic>
    </p:spTree>
    <p:extLst>
      <p:ext uri="{BB962C8B-B14F-4D97-AF65-F5344CB8AC3E}">
        <p14:creationId xmlns:p14="http://schemas.microsoft.com/office/powerpoint/2010/main" val="1856581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BCB07-9105-4561-854F-3EE6CECF99A7}"/>
              </a:ext>
            </a:extLst>
          </p:cNvPr>
          <p:cNvSpPr>
            <a:spLocks noGrp="1"/>
          </p:cNvSpPr>
          <p:nvPr>
            <p:ph type="title"/>
          </p:nvPr>
        </p:nvSpPr>
        <p:spPr>
          <a:xfrm>
            <a:off x="768100" y="822960"/>
            <a:ext cx="3363329" cy="891778"/>
          </a:xfrm>
        </p:spPr>
        <p:txBody>
          <a:bodyPr/>
          <a:lstStyle/>
          <a:p>
            <a:r>
              <a:rPr lang="en-US" b="1" dirty="0"/>
              <a:t>Python</a:t>
            </a:r>
          </a:p>
        </p:txBody>
      </p:sp>
      <p:pic>
        <p:nvPicPr>
          <p:cNvPr id="7" name="Content Placeholder 6">
            <a:extLst>
              <a:ext uri="{FF2B5EF4-FFF2-40B4-BE49-F238E27FC236}">
                <a16:creationId xmlns:a16="http://schemas.microsoft.com/office/drawing/2014/main" id="{BF28E972-557F-4116-BB0F-B3C0CE20DD64}"/>
              </a:ext>
            </a:extLst>
          </p:cNvPr>
          <p:cNvPicPr>
            <a:picLocks noGrp="1" noChangeAspect="1"/>
          </p:cNvPicPr>
          <p:nvPr>
            <p:ph idx="1"/>
          </p:nvPr>
        </p:nvPicPr>
        <p:blipFill>
          <a:blip r:embed="rId2"/>
          <a:stretch>
            <a:fillRect/>
          </a:stretch>
        </p:blipFill>
        <p:spPr>
          <a:xfrm>
            <a:off x="4286254" y="266010"/>
            <a:ext cx="4705047" cy="2967645"/>
          </a:xfrm>
          <a:ln>
            <a:solidFill>
              <a:schemeClr val="accent1"/>
            </a:solidFill>
          </a:ln>
          <a:effectLst>
            <a:glow rad="25400">
              <a:schemeClr val="accent2">
                <a:satMod val="175000"/>
                <a:alpha val="40000"/>
              </a:schemeClr>
            </a:glow>
          </a:effectLst>
        </p:spPr>
      </p:pic>
      <p:sp>
        <p:nvSpPr>
          <p:cNvPr id="5" name="Arrow: Right 4">
            <a:hlinkClick r:id="rId3" action="ppaction://hlinksldjump" highlightClick="1"/>
            <a:extLst>
              <a:ext uri="{FF2B5EF4-FFF2-40B4-BE49-F238E27FC236}">
                <a16:creationId xmlns:a16="http://schemas.microsoft.com/office/drawing/2014/main" id="{501492F9-FDEA-4D35-840F-CC8470398996}"/>
              </a:ext>
            </a:extLst>
          </p:cNvPr>
          <p:cNvSpPr/>
          <p:nvPr/>
        </p:nvSpPr>
        <p:spPr>
          <a:xfrm rot="10800000">
            <a:off x="152124" y="6367552"/>
            <a:ext cx="410649" cy="3823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47A8315B-3D51-445E-AD68-C9DEAFFD66FF}"/>
              </a:ext>
            </a:extLst>
          </p:cNvPr>
          <p:cNvPicPr>
            <a:picLocks noChangeAspect="1"/>
          </p:cNvPicPr>
          <p:nvPr/>
        </p:nvPicPr>
        <p:blipFill>
          <a:blip r:embed="rId4"/>
          <a:stretch>
            <a:fillRect/>
          </a:stretch>
        </p:blipFill>
        <p:spPr>
          <a:xfrm>
            <a:off x="4286249" y="3429000"/>
            <a:ext cx="4705048" cy="2863734"/>
          </a:xfrm>
          <a:prstGeom prst="rect">
            <a:avLst/>
          </a:prstGeom>
          <a:ln>
            <a:solidFill>
              <a:schemeClr val="accent1"/>
            </a:solidFill>
          </a:ln>
          <a:effectLst>
            <a:glow rad="25400">
              <a:schemeClr val="accent2">
                <a:satMod val="175000"/>
                <a:alpha val="40000"/>
              </a:schemeClr>
            </a:glow>
          </a:effectLst>
        </p:spPr>
      </p:pic>
      <p:pic>
        <p:nvPicPr>
          <p:cNvPr id="12" name="Picture 11">
            <a:extLst>
              <a:ext uri="{FF2B5EF4-FFF2-40B4-BE49-F238E27FC236}">
                <a16:creationId xmlns:a16="http://schemas.microsoft.com/office/drawing/2014/main" id="{26CD293B-E737-4369-B35C-88A6B85D8CF9}"/>
              </a:ext>
            </a:extLst>
          </p:cNvPr>
          <p:cNvPicPr>
            <a:picLocks noChangeAspect="1"/>
          </p:cNvPicPr>
          <p:nvPr/>
        </p:nvPicPr>
        <p:blipFill>
          <a:blip r:embed="rId5"/>
          <a:stretch>
            <a:fillRect/>
          </a:stretch>
        </p:blipFill>
        <p:spPr>
          <a:xfrm>
            <a:off x="574990" y="4202354"/>
            <a:ext cx="3564498" cy="2090385"/>
          </a:xfrm>
          <a:prstGeom prst="rect">
            <a:avLst/>
          </a:prstGeom>
        </p:spPr>
      </p:pic>
      <p:sp>
        <p:nvSpPr>
          <p:cNvPr id="20" name="Text Placeholder 3">
            <a:extLst>
              <a:ext uri="{FF2B5EF4-FFF2-40B4-BE49-F238E27FC236}">
                <a16:creationId xmlns:a16="http://schemas.microsoft.com/office/drawing/2014/main" id="{334AE4FD-B142-40C5-8832-9146DD3EACDA}"/>
              </a:ext>
            </a:extLst>
          </p:cNvPr>
          <p:cNvSpPr>
            <a:spLocks noGrp="1"/>
          </p:cNvSpPr>
          <p:nvPr>
            <p:ph type="body" sz="half" idx="2"/>
          </p:nvPr>
        </p:nvSpPr>
        <p:spPr>
          <a:xfrm>
            <a:off x="566927" y="1818919"/>
            <a:ext cx="3564498" cy="2279259"/>
          </a:xfrm>
          <a:ln>
            <a:solidFill>
              <a:schemeClr val="accent1"/>
            </a:solidFill>
          </a:ln>
          <a:effectLst/>
        </p:spPr>
        <p:txBody>
          <a:bodyPr>
            <a:noAutofit/>
          </a:bodyPr>
          <a:lstStyle/>
          <a:p>
            <a:pPr marL="171450" indent="-171450">
              <a:buFont typeface="Arial" panose="020B0604020202020204" pitchFamily="34" charset="0"/>
              <a:buChar char="•"/>
            </a:pPr>
            <a:r>
              <a:rPr lang="en-US" sz="1500" dirty="0"/>
              <a:t>Used Python (Pandas) to clean the dataset by detecting missing values, removing duplicates, and ensuring data accuracy.</a:t>
            </a:r>
          </a:p>
          <a:p>
            <a:pPr marL="171450" indent="-171450">
              <a:buFont typeface="Arial" panose="020B0604020202020204" pitchFamily="34" charset="0"/>
              <a:buChar char="•"/>
            </a:pPr>
            <a:r>
              <a:rPr lang="en-US" sz="1500" dirty="0"/>
              <a:t>Inspected the dataset structure using tools to validate correct column data types.</a:t>
            </a:r>
          </a:p>
          <a:p>
            <a:pPr marL="171450" indent="-171450">
              <a:buFont typeface="Arial" panose="020B0604020202020204" pitchFamily="34" charset="0"/>
              <a:buChar char="•"/>
            </a:pPr>
            <a:r>
              <a:rPr lang="en-US" sz="1500" dirty="0"/>
              <a:t>Exported a fully cleaned and reliable dataset ready for analysis in SQL, Tableau, and Power BI.</a:t>
            </a:r>
          </a:p>
          <a:p>
            <a:pPr marL="285750" indent="-285750">
              <a:buFont typeface="Arial" panose="020B0604020202020204" pitchFamily="34" charset="0"/>
              <a:buChar char="•"/>
            </a:pPr>
            <a:endParaRPr lang="en-US" sz="1050" dirty="0"/>
          </a:p>
        </p:txBody>
      </p:sp>
    </p:spTree>
    <p:extLst>
      <p:ext uri="{BB962C8B-B14F-4D97-AF65-F5344CB8AC3E}">
        <p14:creationId xmlns:p14="http://schemas.microsoft.com/office/powerpoint/2010/main" val="4114017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DED81-B87B-4AAB-A226-B5DF130F7997}"/>
              </a:ext>
            </a:extLst>
          </p:cNvPr>
          <p:cNvSpPr>
            <a:spLocks noGrp="1"/>
          </p:cNvSpPr>
          <p:nvPr>
            <p:ph type="title"/>
          </p:nvPr>
        </p:nvSpPr>
        <p:spPr>
          <a:xfrm>
            <a:off x="768100" y="822960"/>
            <a:ext cx="1734035" cy="792180"/>
          </a:xfrm>
        </p:spPr>
        <p:txBody>
          <a:bodyPr>
            <a:normAutofit/>
          </a:bodyPr>
          <a:lstStyle/>
          <a:p>
            <a:r>
              <a:rPr lang="en-US" sz="3600" b="1" dirty="0" err="1"/>
              <a:t>Tableu</a:t>
            </a:r>
            <a:endParaRPr lang="en-US" sz="3600" dirty="0"/>
          </a:p>
        </p:txBody>
      </p:sp>
      <p:sp>
        <p:nvSpPr>
          <p:cNvPr id="6" name="Content Placeholder 5">
            <a:extLst>
              <a:ext uri="{FF2B5EF4-FFF2-40B4-BE49-F238E27FC236}">
                <a16:creationId xmlns:a16="http://schemas.microsoft.com/office/drawing/2014/main" id="{18D8C242-E815-468E-AC19-3520E22BC2AB}"/>
              </a:ext>
            </a:extLst>
          </p:cNvPr>
          <p:cNvSpPr>
            <a:spLocks noGrp="1"/>
          </p:cNvSpPr>
          <p:nvPr>
            <p:ph sz="quarter" idx="4"/>
          </p:nvPr>
        </p:nvSpPr>
        <p:spPr>
          <a:xfrm>
            <a:off x="3250279" y="464660"/>
            <a:ext cx="5594467" cy="1738214"/>
          </a:xfrm>
          <a:ln>
            <a:solidFill>
              <a:schemeClr val="accent1"/>
            </a:solidFill>
          </a:ln>
          <a:effectLst/>
        </p:spPr>
        <p:txBody>
          <a:bodyPr>
            <a:normAutofit fontScale="92500" lnSpcReduction="10000"/>
          </a:bodyPr>
          <a:lstStyle/>
          <a:p>
            <a:pPr>
              <a:buFont typeface="Arial" panose="020B0604020202020204" pitchFamily="34" charset="0"/>
              <a:buChar char="•"/>
            </a:pPr>
            <a:r>
              <a:rPr lang="en-US" b="1" dirty="0"/>
              <a:t>Category Profit Breakdown:</a:t>
            </a:r>
            <a:r>
              <a:rPr lang="en-US" dirty="0"/>
              <a:t> Answers key business questions by showing which segments (like Consumer) and categories (like Technology) make the most money.</a:t>
            </a:r>
          </a:p>
          <a:p>
            <a:pPr>
              <a:buFont typeface="Arial" panose="020B0604020202020204" pitchFamily="34" charset="0"/>
              <a:buChar char="•"/>
            </a:pPr>
            <a:r>
              <a:rPr lang="en-US" b="1" dirty="0"/>
              <a:t>Profit vs. Loss Analysis:</a:t>
            </a:r>
            <a:r>
              <a:rPr lang="en-US" dirty="0"/>
              <a:t> Instantly pinpoints our top 5 "Star Customers" and "Best Sellers" alongside our top 5 loss-making items to stop financial leaks.</a:t>
            </a:r>
          </a:p>
          <a:p>
            <a:endParaRPr lang="en-US" dirty="0"/>
          </a:p>
        </p:txBody>
      </p:sp>
      <p:sp>
        <p:nvSpPr>
          <p:cNvPr id="9" name="Rectangle 8">
            <a:extLst>
              <a:ext uri="{FF2B5EF4-FFF2-40B4-BE49-F238E27FC236}">
                <a16:creationId xmlns:a16="http://schemas.microsoft.com/office/drawing/2014/main" id="{33D8FA0C-FFE3-4C57-9DA4-6255E4D7F742}"/>
              </a:ext>
            </a:extLst>
          </p:cNvPr>
          <p:cNvSpPr/>
          <p:nvPr/>
        </p:nvSpPr>
        <p:spPr>
          <a:xfrm>
            <a:off x="556957" y="2352502"/>
            <a:ext cx="8287789" cy="4040840"/>
          </a:xfrm>
          <a:prstGeom prst="rect">
            <a:avLst/>
          </a:prstGeom>
          <a:noFill/>
          <a:ln w="9525" cap="flat" cmpd="sng" algn="ctr">
            <a:solidFill>
              <a:schemeClr val="accent2"/>
            </a:solidFill>
            <a:prstDash val="solid"/>
            <a:round/>
            <a:headEnd type="none" w="med" len="med"/>
            <a:tailEnd type="none" w="med" len="med"/>
          </a:ln>
          <a:effectLst>
            <a:glow rad="25400">
              <a:schemeClr val="accent2">
                <a:satMod val="175000"/>
                <a:alpha val="40000"/>
              </a:schemeClr>
            </a:glow>
          </a:effectLst>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0" name="Arrow: Right 9">
            <a:hlinkClick r:id="rId2" action="ppaction://hlinksldjump" highlightClick="1"/>
            <a:extLst>
              <a:ext uri="{FF2B5EF4-FFF2-40B4-BE49-F238E27FC236}">
                <a16:creationId xmlns:a16="http://schemas.microsoft.com/office/drawing/2014/main" id="{32802CF0-BF81-42D2-9EC5-2904FDAFB984}"/>
              </a:ext>
            </a:extLst>
          </p:cNvPr>
          <p:cNvSpPr/>
          <p:nvPr/>
        </p:nvSpPr>
        <p:spPr>
          <a:xfrm rot="10800000">
            <a:off x="152124" y="6367552"/>
            <a:ext cx="410649" cy="3823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hlinkClick r:id="rId3" action="ppaction://hlinksldjump"/>
            <a:extLst>
              <a:ext uri="{FF2B5EF4-FFF2-40B4-BE49-F238E27FC236}">
                <a16:creationId xmlns:a16="http://schemas.microsoft.com/office/drawing/2014/main" id="{9102BD59-F21A-4B7A-BAEF-CFECAFC37F95}"/>
              </a:ext>
            </a:extLst>
          </p:cNvPr>
          <p:cNvSpPr/>
          <p:nvPr/>
        </p:nvSpPr>
        <p:spPr>
          <a:xfrm>
            <a:off x="7853033" y="6458989"/>
            <a:ext cx="410649" cy="290948"/>
          </a:xfrm>
          <a:prstGeom prst="roundRect">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1</a:t>
            </a:r>
          </a:p>
        </p:txBody>
      </p:sp>
      <p:sp>
        <p:nvSpPr>
          <p:cNvPr id="12" name="Rectangle: Rounded Corners 11">
            <a:hlinkClick r:id="rId4" action="ppaction://hlinksldjump"/>
            <a:extLst>
              <a:ext uri="{FF2B5EF4-FFF2-40B4-BE49-F238E27FC236}">
                <a16:creationId xmlns:a16="http://schemas.microsoft.com/office/drawing/2014/main" id="{B9531F74-EE69-4A3A-8FA2-98681B4EAA35}"/>
              </a:ext>
            </a:extLst>
          </p:cNvPr>
          <p:cNvSpPr/>
          <p:nvPr/>
        </p:nvSpPr>
        <p:spPr>
          <a:xfrm>
            <a:off x="8363158" y="6458989"/>
            <a:ext cx="410649" cy="2909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22" name="Content Placeholder 21">
            <a:extLst>
              <a:ext uri="{FF2B5EF4-FFF2-40B4-BE49-F238E27FC236}">
                <a16:creationId xmlns:a16="http://schemas.microsoft.com/office/drawing/2014/main" id="{DF880790-8596-44B1-A0CD-736700774513}"/>
              </a:ext>
            </a:extLst>
          </p:cNvPr>
          <p:cNvPicPr>
            <a:picLocks noGrp="1" noChangeAspect="1"/>
          </p:cNvPicPr>
          <p:nvPr>
            <p:ph sz="half" idx="2"/>
          </p:nvPr>
        </p:nvPicPr>
        <p:blipFill>
          <a:blip r:embed="rId5"/>
          <a:stretch>
            <a:fillRect/>
          </a:stretch>
        </p:blipFill>
        <p:spPr>
          <a:xfrm>
            <a:off x="635346" y="2411546"/>
            <a:ext cx="8209400" cy="3897813"/>
          </a:xfrm>
        </p:spPr>
      </p:pic>
    </p:spTree>
    <p:extLst>
      <p:ext uri="{BB962C8B-B14F-4D97-AF65-F5344CB8AC3E}">
        <p14:creationId xmlns:p14="http://schemas.microsoft.com/office/powerpoint/2010/main" val="3226034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5EEE3F8-E8E7-4398-B266-39BDE3C622C9}"/>
              </a:ext>
            </a:extLst>
          </p:cNvPr>
          <p:cNvPicPr>
            <a:picLocks noGrp="1" noChangeAspect="1"/>
          </p:cNvPicPr>
          <p:nvPr>
            <p:ph idx="1"/>
          </p:nvPr>
        </p:nvPicPr>
        <p:blipFill>
          <a:blip r:embed="rId2"/>
          <a:stretch>
            <a:fillRect/>
          </a:stretch>
        </p:blipFill>
        <p:spPr>
          <a:xfrm>
            <a:off x="3449782" y="230876"/>
            <a:ext cx="5403273" cy="2645328"/>
          </a:xfrm>
          <a:ln>
            <a:solidFill>
              <a:schemeClr val="accent2">
                <a:lumMod val="60000"/>
                <a:lumOff val="40000"/>
              </a:schemeClr>
            </a:solidFill>
          </a:ln>
        </p:spPr>
      </p:pic>
      <p:sp>
        <p:nvSpPr>
          <p:cNvPr id="4" name="Text Placeholder 3">
            <a:extLst>
              <a:ext uri="{FF2B5EF4-FFF2-40B4-BE49-F238E27FC236}">
                <a16:creationId xmlns:a16="http://schemas.microsoft.com/office/drawing/2014/main" id="{A06269FC-3D20-4AEB-93F9-BA644B7620DF}"/>
              </a:ext>
            </a:extLst>
          </p:cNvPr>
          <p:cNvSpPr>
            <a:spLocks noGrp="1"/>
          </p:cNvSpPr>
          <p:nvPr>
            <p:ph type="body" sz="half" idx="2"/>
          </p:nvPr>
        </p:nvSpPr>
        <p:spPr>
          <a:xfrm>
            <a:off x="290945" y="3009207"/>
            <a:ext cx="8562109" cy="3300153"/>
          </a:xfrm>
          <a:ln>
            <a:solidFill>
              <a:schemeClr val="accent2">
                <a:lumMod val="60000"/>
                <a:lumOff val="40000"/>
              </a:schemeClr>
            </a:solidFill>
          </a:ln>
        </p:spPr>
        <p:txBody>
          <a:bodyPr/>
          <a:lstStyle/>
          <a:p>
            <a:endParaRPr lang="en-US" dirty="0"/>
          </a:p>
        </p:txBody>
      </p:sp>
      <p:sp>
        <p:nvSpPr>
          <p:cNvPr id="5" name="Title 1">
            <a:extLst>
              <a:ext uri="{FF2B5EF4-FFF2-40B4-BE49-F238E27FC236}">
                <a16:creationId xmlns:a16="http://schemas.microsoft.com/office/drawing/2014/main" id="{E3CBDB39-4D90-4EB8-AF7A-E58268470669}"/>
              </a:ext>
            </a:extLst>
          </p:cNvPr>
          <p:cNvSpPr>
            <a:spLocks noGrp="1"/>
          </p:cNvSpPr>
          <p:nvPr>
            <p:ph type="title"/>
          </p:nvPr>
        </p:nvSpPr>
        <p:spPr>
          <a:xfrm>
            <a:off x="768100" y="822960"/>
            <a:ext cx="1734035" cy="792180"/>
          </a:xfrm>
        </p:spPr>
        <p:txBody>
          <a:bodyPr>
            <a:normAutofit/>
          </a:bodyPr>
          <a:lstStyle/>
          <a:p>
            <a:r>
              <a:rPr lang="en-US" sz="3600" b="1" dirty="0" err="1"/>
              <a:t>Tableu</a:t>
            </a:r>
            <a:endParaRPr lang="en-US" sz="3600" dirty="0"/>
          </a:p>
        </p:txBody>
      </p:sp>
      <p:sp>
        <p:nvSpPr>
          <p:cNvPr id="8" name="Arrow: Right 7">
            <a:hlinkClick r:id="rId3" action="ppaction://hlinksldjump" highlightClick="1"/>
            <a:extLst>
              <a:ext uri="{FF2B5EF4-FFF2-40B4-BE49-F238E27FC236}">
                <a16:creationId xmlns:a16="http://schemas.microsoft.com/office/drawing/2014/main" id="{96EB6BFA-68DC-42DF-9E10-FDB787853DD8}"/>
              </a:ext>
            </a:extLst>
          </p:cNvPr>
          <p:cNvSpPr/>
          <p:nvPr/>
        </p:nvSpPr>
        <p:spPr>
          <a:xfrm rot="10800000">
            <a:off x="152124" y="6367552"/>
            <a:ext cx="410649" cy="3823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hlinkClick r:id="rId4" action="ppaction://hlinksldjump"/>
            <a:extLst>
              <a:ext uri="{FF2B5EF4-FFF2-40B4-BE49-F238E27FC236}">
                <a16:creationId xmlns:a16="http://schemas.microsoft.com/office/drawing/2014/main" id="{F264463E-9A9C-404C-AF4B-B338653520DE}"/>
              </a:ext>
            </a:extLst>
          </p:cNvPr>
          <p:cNvSpPr/>
          <p:nvPr/>
        </p:nvSpPr>
        <p:spPr>
          <a:xfrm>
            <a:off x="7853033" y="6458989"/>
            <a:ext cx="410649" cy="2909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1</a:t>
            </a:r>
          </a:p>
        </p:txBody>
      </p:sp>
      <p:sp>
        <p:nvSpPr>
          <p:cNvPr id="11" name="Rectangle: Rounded Corners 10">
            <a:hlinkClick r:id="rId5" action="ppaction://hlinksldjump"/>
            <a:extLst>
              <a:ext uri="{FF2B5EF4-FFF2-40B4-BE49-F238E27FC236}">
                <a16:creationId xmlns:a16="http://schemas.microsoft.com/office/drawing/2014/main" id="{3A9E78B5-D08A-45F6-BB7C-F4DE2E58AA17}"/>
              </a:ext>
            </a:extLst>
          </p:cNvPr>
          <p:cNvSpPr/>
          <p:nvPr/>
        </p:nvSpPr>
        <p:spPr>
          <a:xfrm>
            <a:off x="8363158" y="6458989"/>
            <a:ext cx="410649" cy="290948"/>
          </a:xfrm>
          <a:prstGeom prst="roundRect">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pic>
        <p:nvPicPr>
          <p:cNvPr id="15" name="Picture 14">
            <a:extLst>
              <a:ext uri="{FF2B5EF4-FFF2-40B4-BE49-F238E27FC236}">
                <a16:creationId xmlns:a16="http://schemas.microsoft.com/office/drawing/2014/main" id="{1CF210BD-C5DE-4F21-AC7C-D280466F5417}"/>
              </a:ext>
            </a:extLst>
          </p:cNvPr>
          <p:cNvPicPr>
            <a:picLocks noChangeAspect="1"/>
          </p:cNvPicPr>
          <p:nvPr/>
        </p:nvPicPr>
        <p:blipFill>
          <a:blip r:embed="rId6"/>
          <a:stretch>
            <a:fillRect/>
          </a:stretch>
        </p:blipFill>
        <p:spPr>
          <a:xfrm>
            <a:off x="370193" y="3052542"/>
            <a:ext cx="8403614" cy="3198629"/>
          </a:xfrm>
          <a:prstGeom prst="rect">
            <a:avLst/>
          </a:prstGeom>
        </p:spPr>
      </p:pic>
    </p:spTree>
    <p:extLst>
      <p:ext uri="{BB962C8B-B14F-4D97-AF65-F5344CB8AC3E}">
        <p14:creationId xmlns:p14="http://schemas.microsoft.com/office/powerpoint/2010/main" val="3769878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BCB07-9105-4561-854F-3EE6CECF99A7}"/>
              </a:ext>
            </a:extLst>
          </p:cNvPr>
          <p:cNvSpPr>
            <a:spLocks noGrp="1"/>
          </p:cNvSpPr>
          <p:nvPr>
            <p:ph type="title"/>
          </p:nvPr>
        </p:nvSpPr>
        <p:spPr>
          <a:xfrm>
            <a:off x="768096" y="822960"/>
            <a:ext cx="1965960" cy="813816"/>
          </a:xfrm>
        </p:spPr>
        <p:txBody>
          <a:bodyPr/>
          <a:lstStyle/>
          <a:p>
            <a:r>
              <a:rPr lang="en-US" b="1" dirty="0" err="1"/>
              <a:t>PowerBI</a:t>
            </a:r>
            <a:endParaRPr lang="en-US" b="1" dirty="0"/>
          </a:p>
        </p:txBody>
      </p:sp>
      <p:sp>
        <p:nvSpPr>
          <p:cNvPr id="4" name="Text Placeholder 3">
            <a:extLst>
              <a:ext uri="{FF2B5EF4-FFF2-40B4-BE49-F238E27FC236}">
                <a16:creationId xmlns:a16="http://schemas.microsoft.com/office/drawing/2014/main" id="{D41B2F2A-5F68-46A5-9E5A-25F7A94AAC21}"/>
              </a:ext>
            </a:extLst>
          </p:cNvPr>
          <p:cNvSpPr>
            <a:spLocks noGrp="1"/>
          </p:cNvSpPr>
          <p:nvPr>
            <p:ph type="body" sz="half" idx="2"/>
          </p:nvPr>
        </p:nvSpPr>
        <p:spPr>
          <a:xfrm>
            <a:off x="626887" y="2257510"/>
            <a:ext cx="3147199" cy="3353585"/>
          </a:xfrm>
          <a:ln>
            <a:solidFill>
              <a:schemeClr val="accent1"/>
            </a:solidFill>
          </a:ln>
        </p:spPr>
        <p:txBody>
          <a:bodyPr>
            <a:normAutofit lnSpcReduction="10000"/>
          </a:bodyPr>
          <a:lstStyle/>
          <a:p>
            <a:pPr>
              <a:buFont typeface="Arial" panose="020B0604020202020204" pitchFamily="34" charset="0"/>
              <a:buChar char="•"/>
            </a:pPr>
            <a:r>
              <a:rPr lang="en-US" b="1" dirty="0"/>
              <a:t>4-Year Sales &amp; Profit Tracking:</a:t>
            </a:r>
            <a:r>
              <a:rPr lang="en-US" dirty="0"/>
              <a:t> Gathers and analyzes our sales and profits over the past four years to identify clear performance trends.</a:t>
            </a:r>
          </a:p>
          <a:p>
            <a:pPr>
              <a:buFont typeface="Arial" panose="020B0604020202020204" pitchFamily="34" charset="0"/>
              <a:buChar char="•"/>
            </a:pPr>
            <a:r>
              <a:rPr lang="en-US" b="1" dirty="0"/>
              <a:t>Logistics &amp; Loss Monitoring:</a:t>
            </a:r>
            <a:r>
              <a:rPr lang="en-US" dirty="0"/>
              <a:t> Keeps a close eye on shipping deliveries and operational losses to protect our bottom line.</a:t>
            </a:r>
          </a:p>
          <a:p>
            <a:pPr>
              <a:buFont typeface="Arial" panose="020B0604020202020204" pitchFamily="34" charset="0"/>
              <a:buChar char="•"/>
            </a:pPr>
            <a:r>
              <a:rPr lang="en-US" b="1" dirty="0"/>
              <a:t>Easy-to-Use Interactive Dashboard:</a:t>
            </a:r>
            <a:r>
              <a:rPr lang="en-US" dirty="0"/>
              <a:t> Combines all of this information into a single, clean, and highly user-friendly dashboard.</a:t>
            </a:r>
          </a:p>
          <a:p>
            <a:endParaRPr lang="en-US" dirty="0"/>
          </a:p>
        </p:txBody>
      </p:sp>
      <p:sp>
        <p:nvSpPr>
          <p:cNvPr id="5" name="Arrow: Right 4">
            <a:hlinkClick r:id="rId2" action="ppaction://hlinksldjump" highlightClick="1"/>
            <a:extLst>
              <a:ext uri="{FF2B5EF4-FFF2-40B4-BE49-F238E27FC236}">
                <a16:creationId xmlns:a16="http://schemas.microsoft.com/office/drawing/2014/main" id="{F91BEF58-B2D2-47B0-8476-99E2BF566DE1}"/>
              </a:ext>
            </a:extLst>
          </p:cNvPr>
          <p:cNvSpPr/>
          <p:nvPr/>
        </p:nvSpPr>
        <p:spPr>
          <a:xfrm rot="10800000">
            <a:off x="152124" y="6367552"/>
            <a:ext cx="410649" cy="3823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8660A97-3F07-468C-81DD-A7F683D68CB9}"/>
              </a:ext>
            </a:extLst>
          </p:cNvPr>
          <p:cNvPicPr>
            <a:picLocks noChangeAspect="1"/>
          </p:cNvPicPr>
          <p:nvPr/>
        </p:nvPicPr>
        <p:blipFill>
          <a:blip r:embed="rId3"/>
          <a:stretch>
            <a:fillRect/>
          </a:stretch>
        </p:blipFill>
        <p:spPr>
          <a:xfrm>
            <a:off x="4184630" y="3555633"/>
            <a:ext cx="4634865" cy="3194300"/>
          </a:xfrm>
          <a:prstGeom prst="rect">
            <a:avLst/>
          </a:prstGeom>
        </p:spPr>
      </p:pic>
      <p:pic>
        <p:nvPicPr>
          <p:cNvPr id="13" name="Content Placeholder 12">
            <a:extLst>
              <a:ext uri="{FF2B5EF4-FFF2-40B4-BE49-F238E27FC236}">
                <a16:creationId xmlns:a16="http://schemas.microsoft.com/office/drawing/2014/main" id="{B99C2F11-553A-47A9-ABB8-6240AA39DBCB}"/>
              </a:ext>
            </a:extLst>
          </p:cNvPr>
          <p:cNvPicPr>
            <a:picLocks noGrp="1" noChangeAspect="1"/>
          </p:cNvPicPr>
          <p:nvPr>
            <p:ph idx="1"/>
          </p:nvPr>
        </p:nvPicPr>
        <p:blipFill>
          <a:blip r:embed="rId4"/>
          <a:stretch>
            <a:fillRect/>
          </a:stretch>
        </p:blipFill>
        <p:spPr>
          <a:xfrm>
            <a:off x="4159689" y="212973"/>
            <a:ext cx="4676740" cy="2847613"/>
          </a:xfrm>
        </p:spPr>
      </p:pic>
      <p:sp>
        <p:nvSpPr>
          <p:cNvPr id="14" name="Rectangle: Rounded Corners 13">
            <a:extLst>
              <a:ext uri="{FF2B5EF4-FFF2-40B4-BE49-F238E27FC236}">
                <a16:creationId xmlns:a16="http://schemas.microsoft.com/office/drawing/2014/main" id="{49A7D4C8-6C55-4550-BBE2-13B505F7D74C}"/>
              </a:ext>
            </a:extLst>
          </p:cNvPr>
          <p:cNvSpPr/>
          <p:nvPr/>
        </p:nvSpPr>
        <p:spPr>
          <a:xfrm>
            <a:off x="768097" y="5800693"/>
            <a:ext cx="1514996" cy="369331"/>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dirty="0"/>
          </a:p>
        </p:txBody>
      </p:sp>
      <p:sp>
        <p:nvSpPr>
          <p:cNvPr id="15" name="TextBox 14">
            <a:hlinkClick r:id="rId5" action="ppaction://hlinkfile" highlightClick="1"/>
            <a:extLst>
              <a:ext uri="{FF2B5EF4-FFF2-40B4-BE49-F238E27FC236}">
                <a16:creationId xmlns:a16="http://schemas.microsoft.com/office/drawing/2014/main" id="{26D866A8-A66F-4EDE-B9AB-6214E5A6E144}"/>
              </a:ext>
            </a:extLst>
          </p:cNvPr>
          <p:cNvSpPr txBox="1"/>
          <p:nvPr/>
        </p:nvSpPr>
        <p:spPr>
          <a:xfrm>
            <a:off x="768097" y="5800688"/>
            <a:ext cx="1514996" cy="369332"/>
          </a:xfrm>
          <a:prstGeom prst="rect">
            <a:avLst/>
          </a:prstGeom>
          <a:noFill/>
        </p:spPr>
        <p:txBody>
          <a:bodyPr wrap="square" rtlCol="0">
            <a:spAutoFit/>
          </a:bodyPr>
          <a:lstStyle/>
          <a:p>
            <a:pPr algn="ctr"/>
            <a:r>
              <a:rPr lang="en-US" b="1" dirty="0"/>
              <a:t>Dashboard</a:t>
            </a:r>
            <a:r>
              <a:rPr lang="en-US" dirty="0"/>
              <a:t> </a:t>
            </a:r>
          </a:p>
        </p:txBody>
      </p:sp>
      <p:pic>
        <p:nvPicPr>
          <p:cNvPr id="17" name="Picture 16">
            <a:hlinkClick r:id="rId5" action="ppaction://hlinkfile"/>
            <a:extLst>
              <a:ext uri="{FF2B5EF4-FFF2-40B4-BE49-F238E27FC236}">
                <a16:creationId xmlns:a16="http://schemas.microsoft.com/office/drawing/2014/main" id="{E11FDFAB-6E02-4826-907E-21D027564F2F}"/>
              </a:ext>
            </a:extLst>
          </p:cNvPr>
          <p:cNvPicPr>
            <a:picLocks noChangeAspect="1"/>
          </p:cNvPicPr>
          <p:nvPr/>
        </p:nvPicPr>
        <p:blipFill>
          <a:blip r:embed="rId6"/>
          <a:stretch>
            <a:fillRect/>
          </a:stretch>
        </p:blipFill>
        <p:spPr>
          <a:xfrm>
            <a:off x="2629419" y="5611091"/>
            <a:ext cx="1141338" cy="761118"/>
          </a:xfrm>
          <a:prstGeom prst="rect">
            <a:avLst/>
          </a:prstGeom>
        </p:spPr>
      </p:pic>
      <p:sp>
        <p:nvSpPr>
          <p:cNvPr id="18" name="Text Placeholder 3">
            <a:extLst>
              <a:ext uri="{FF2B5EF4-FFF2-40B4-BE49-F238E27FC236}">
                <a16:creationId xmlns:a16="http://schemas.microsoft.com/office/drawing/2014/main" id="{4AB01A7F-C370-42A0-99CB-15EDE117BED5}"/>
              </a:ext>
            </a:extLst>
          </p:cNvPr>
          <p:cNvSpPr txBox="1">
            <a:spLocks/>
          </p:cNvSpPr>
          <p:nvPr/>
        </p:nvSpPr>
        <p:spPr>
          <a:xfrm>
            <a:off x="3997595" y="100064"/>
            <a:ext cx="4917809" cy="3073422"/>
          </a:xfrm>
          <a:prstGeom prst="rect">
            <a:avLst/>
          </a:prstGeom>
          <a:noFill/>
          <a:ln>
            <a:solidFill>
              <a:schemeClr val="accent2"/>
            </a:solidFill>
          </a:ln>
          <a:effectLst>
            <a:glow rad="25400">
              <a:schemeClr val="accent1">
                <a:satMod val="175000"/>
                <a:alpha val="40000"/>
              </a:schemeClr>
            </a:glow>
          </a:effectLst>
        </p:spPr>
        <p:txBody>
          <a:bodyPr vert="horz" lIns="91440" tIns="45720" rIns="91440" bIns="45720" rtlCol="0">
            <a:normAutofit/>
          </a:bodyPr>
          <a:lstStyle>
            <a:lvl1pPr marL="0" indent="0" algn="l" defTabSz="914400" rtl="0" eaLnBrk="1" latinLnBrk="0" hangingPunct="1">
              <a:lnSpc>
                <a:spcPct val="108000"/>
              </a:lnSpc>
              <a:spcBef>
                <a:spcPts val="600"/>
              </a:spcBef>
              <a:spcAft>
                <a:spcPts val="200"/>
              </a:spcAft>
              <a:buClr>
                <a:schemeClr val="accent1"/>
              </a:buClr>
              <a:buSzPct val="100000"/>
              <a:buFont typeface="Tw Cen MT" panose="020B0602020104020603"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itchFamily="18" charset="2"/>
              <a:buNone/>
              <a:defRPr sz="1200"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itchFamily="18" charset="2"/>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itchFamily="18" charset="2"/>
              <a:buNone/>
              <a:defRPr sz="900"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itchFamily="18" charset="2"/>
              <a:buNone/>
              <a:defRPr sz="900"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itchFamily="18" charset="2"/>
              <a:buNone/>
              <a:defRPr sz="900"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itchFamily="18" charset="2"/>
              <a:buNone/>
              <a:defRPr sz="900"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itchFamily="18" charset="2"/>
              <a:buNone/>
              <a:defRPr sz="900"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itchFamily="18" charset="2"/>
              <a:buNone/>
              <a:defRPr sz="900" kern="1200">
                <a:solidFill>
                  <a:schemeClr val="tx1"/>
                </a:solidFill>
                <a:latin typeface="+mn-lt"/>
                <a:ea typeface="+mn-ea"/>
                <a:cs typeface="+mn-cs"/>
              </a:defRPr>
            </a:lvl9pPr>
          </a:lstStyle>
          <a:p>
            <a:endParaRPr lang="en-US" dirty="0"/>
          </a:p>
        </p:txBody>
      </p:sp>
      <p:sp>
        <p:nvSpPr>
          <p:cNvPr id="19" name="Text Placeholder 3">
            <a:extLst>
              <a:ext uri="{FF2B5EF4-FFF2-40B4-BE49-F238E27FC236}">
                <a16:creationId xmlns:a16="http://schemas.microsoft.com/office/drawing/2014/main" id="{EFF05A20-1FA2-4C65-8194-27C617985949}"/>
              </a:ext>
            </a:extLst>
          </p:cNvPr>
          <p:cNvSpPr txBox="1">
            <a:spLocks/>
          </p:cNvSpPr>
          <p:nvPr/>
        </p:nvSpPr>
        <p:spPr>
          <a:xfrm>
            <a:off x="3997594" y="3398147"/>
            <a:ext cx="4917809" cy="3246884"/>
          </a:xfrm>
          <a:prstGeom prst="rect">
            <a:avLst/>
          </a:prstGeom>
          <a:noFill/>
          <a:ln>
            <a:solidFill>
              <a:schemeClr val="accent2"/>
            </a:solidFill>
          </a:ln>
          <a:effectLst>
            <a:glow rad="25400">
              <a:schemeClr val="accent1">
                <a:satMod val="175000"/>
                <a:alpha val="41000"/>
              </a:schemeClr>
            </a:glow>
          </a:effectLst>
        </p:spPr>
        <p:txBody>
          <a:bodyPr vert="horz" lIns="91440" tIns="45720" rIns="91440" bIns="45720" rtlCol="0">
            <a:normAutofit/>
          </a:bodyPr>
          <a:lstStyle>
            <a:lvl1pPr marL="0" indent="0" algn="l" defTabSz="914400" rtl="0" eaLnBrk="1" latinLnBrk="0" hangingPunct="1">
              <a:lnSpc>
                <a:spcPct val="108000"/>
              </a:lnSpc>
              <a:spcBef>
                <a:spcPts val="600"/>
              </a:spcBef>
              <a:spcAft>
                <a:spcPts val="200"/>
              </a:spcAft>
              <a:buClr>
                <a:schemeClr val="accent1"/>
              </a:buClr>
              <a:buSzPct val="100000"/>
              <a:buFont typeface="Tw Cen MT" panose="020B0602020104020603"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itchFamily="18" charset="2"/>
              <a:buNone/>
              <a:defRPr sz="1200"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itchFamily="18" charset="2"/>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itchFamily="18" charset="2"/>
              <a:buNone/>
              <a:defRPr sz="900"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itchFamily="18" charset="2"/>
              <a:buNone/>
              <a:defRPr sz="900"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itchFamily="18" charset="2"/>
              <a:buNone/>
              <a:defRPr sz="900"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itchFamily="18" charset="2"/>
              <a:buNone/>
              <a:defRPr sz="900"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itchFamily="18" charset="2"/>
              <a:buNone/>
              <a:defRPr sz="900"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itchFamily="18" charset="2"/>
              <a:buNone/>
              <a:defRPr sz="900" kern="1200">
                <a:solidFill>
                  <a:schemeClr val="tx1"/>
                </a:solidFill>
                <a:latin typeface="+mn-lt"/>
                <a:ea typeface="+mn-ea"/>
                <a:cs typeface="+mn-cs"/>
              </a:defRPr>
            </a:lvl9pPr>
          </a:lstStyle>
          <a:p>
            <a:endParaRPr lang="en-US" dirty="0"/>
          </a:p>
        </p:txBody>
      </p:sp>
      <p:sp>
        <p:nvSpPr>
          <p:cNvPr id="20" name="Arrow: Right 19">
            <a:hlinkClick r:id="rId7" action="ppaction://hlinksldjump"/>
            <a:extLst>
              <a:ext uri="{FF2B5EF4-FFF2-40B4-BE49-F238E27FC236}">
                <a16:creationId xmlns:a16="http://schemas.microsoft.com/office/drawing/2014/main" id="{D3A1E89E-01B3-41B7-8214-5950C5DF933F}"/>
              </a:ext>
            </a:extLst>
          </p:cNvPr>
          <p:cNvSpPr/>
          <p:nvPr/>
        </p:nvSpPr>
        <p:spPr>
          <a:xfrm>
            <a:off x="3359277" y="6372209"/>
            <a:ext cx="411480" cy="384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4686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BA4A-D8BE-4DD0-88CF-BDD25AAAA262}"/>
              </a:ext>
            </a:extLst>
          </p:cNvPr>
          <p:cNvSpPr>
            <a:spLocks noGrp="1"/>
          </p:cNvSpPr>
          <p:nvPr>
            <p:ph type="title"/>
          </p:nvPr>
        </p:nvSpPr>
        <p:spPr>
          <a:xfrm>
            <a:off x="768095" y="681644"/>
            <a:ext cx="8264723" cy="1105592"/>
          </a:xfrm>
          <a:noFill/>
          <a:ln cap="rnd" cmpd="sng">
            <a:gradFill>
              <a:gsLst>
                <a:gs pos="0">
                  <a:schemeClr val="accent2">
                    <a:lumMod val="60000"/>
                    <a:lumOff val="40000"/>
                  </a:schemeClr>
                </a:gs>
                <a:gs pos="45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xtLst>
              <a:ext uri="{C807C97D-BFC1-408E-A445-0C87EB9F89A2}">
                <ask:lineSketchStyleProps xmlns:ask="http://schemas.microsoft.com/office/drawing/2018/sketchyshapes" sd="1219033472">
                  <a:custGeom>
                    <a:avLst/>
                    <a:gdLst>
                      <a:gd name="connsiteX0" fmla="*/ 0 w 7290054"/>
                      <a:gd name="connsiteY0" fmla="*/ 0 h 1499616"/>
                      <a:gd name="connsiteX1" fmla="*/ 7290054 w 7290054"/>
                      <a:gd name="connsiteY1" fmla="*/ 0 h 1499616"/>
                      <a:gd name="connsiteX2" fmla="*/ 7290054 w 7290054"/>
                      <a:gd name="connsiteY2" fmla="*/ 1499616 h 1499616"/>
                      <a:gd name="connsiteX3" fmla="*/ 0 w 7290054"/>
                      <a:gd name="connsiteY3" fmla="*/ 1499616 h 1499616"/>
                      <a:gd name="connsiteX4" fmla="*/ 0 w 7290054"/>
                      <a:gd name="connsiteY4" fmla="*/ 0 h 1499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90054" h="1499616" fill="none" extrusionOk="0">
                        <a:moveTo>
                          <a:pt x="0" y="0"/>
                        </a:moveTo>
                        <a:cubicBezTo>
                          <a:pt x="3197478" y="-49533"/>
                          <a:pt x="4799464" y="-14809"/>
                          <a:pt x="7290054" y="0"/>
                        </a:cubicBezTo>
                        <a:cubicBezTo>
                          <a:pt x="7265749" y="567507"/>
                          <a:pt x="7186029" y="775241"/>
                          <a:pt x="7290054" y="1499616"/>
                        </a:cubicBezTo>
                        <a:cubicBezTo>
                          <a:pt x="6559447" y="1451385"/>
                          <a:pt x="1157352" y="1584071"/>
                          <a:pt x="0" y="1499616"/>
                        </a:cubicBezTo>
                        <a:cubicBezTo>
                          <a:pt x="7587" y="1022074"/>
                          <a:pt x="-52095" y="243945"/>
                          <a:pt x="0" y="0"/>
                        </a:cubicBezTo>
                        <a:close/>
                      </a:path>
                      <a:path w="7290054" h="1499616" stroke="0" extrusionOk="0">
                        <a:moveTo>
                          <a:pt x="0" y="0"/>
                        </a:moveTo>
                        <a:cubicBezTo>
                          <a:pt x="3346287" y="118645"/>
                          <a:pt x="4090756" y="116012"/>
                          <a:pt x="7290054" y="0"/>
                        </a:cubicBezTo>
                        <a:cubicBezTo>
                          <a:pt x="7320936" y="701776"/>
                          <a:pt x="7165894" y="827625"/>
                          <a:pt x="7290054" y="1499616"/>
                        </a:cubicBezTo>
                        <a:cubicBezTo>
                          <a:pt x="4044685" y="1634216"/>
                          <a:pt x="2934912" y="1342420"/>
                          <a:pt x="0" y="1499616"/>
                        </a:cubicBezTo>
                        <a:cubicBezTo>
                          <a:pt x="27543" y="1101482"/>
                          <a:pt x="94036" y="719063"/>
                          <a:pt x="0" y="0"/>
                        </a:cubicBezTo>
                        <a:close/>
                      </a:path>
                    </a:pathLst>
                  </a:custGeom>
                  <ask:type>
                    <ask:lineSketchNone/>
                  </ask:type>
                </ask:lineSketchStyleProps>
              </a:ext>
            </a:extLst>
          </a:ln>
        </p:spPr>
        <p:txBody>
          <a:bodyPr vert="horz" lIns="91440" tIns="45720" rIns="91440" bIns="45720" rtlCol="0" anchor="ctr">
            <a:normAutofit/>
          </a:bodyPr>
          <a:lstStyle/>
          <a:p>
            <a:pPr algn="just"/>
            <a:r>
              <a:rPr lang="en-US" dirty="0"/>
              <a:t>STRATEGIC ROADMAP</a:t>
            </a:r>
          </a:p>
        </p:txBody>
      </p:sp>
      <p:sp>
        <p:nvSpPr>
          <p:cNvPr id="7" name="Content Placeholder 6">
            <a:extLst>
              <a:ext uri="{FF2B5EF4-FFF2-40B4-BE49-F238E27FC236}">
                <a16:creationId xmlns:a16="http://schemas.microsoft.com/office/drawing/2014/main" id="{4D0362AB-F879-48F7-A3E2-A5BDCE98E4CB}"/>
              </a:ext>
            </a:extLst>
          </p:cNvPr>
          <p:cNvSpPr>
            <a:spLocks noGrp="1"/>
          </p:cNvSpPr>
          <p:nvPr>
            <p:ph sz="half" idx="2"/>
          </p:nvPr>
        </p:nvSpPr>
        <p:spPr>
          <a:xfrm>
            <a:off x="6198179" y="2286000"/>
            <a:ext cx="2834640" cy="4023360"/>
          </a:xfrm>
          <a:ln w="12700">
            <a:solidFill>
              <a:schemeClr val="accent1">
                <a:lumMod val="75000"/>
              </a:schemeClr>
            </a:solidFill>
          </a:ln>
        </p:spPr>
        <p:txBody>
          <a:bodyPr>
            <a:normAutofit/>
          </a:bodyPr>
          <a:lstStyle/>
          <a:p>
            <a:pPr>
              <a:buClr>
                <a:schemeClr val="accent2"/>
              </a:buClr>
              <a:buFont typeface="Wingdings" panose="05000000000000000000" pitchFamily="2" charset="2"/>
              <a:buChar char="q"/>
            </a:pPr>
            <a:r>
              <a:rPr lang="en-US" sz="1950" b="1" dirty="0"/>
              <a:t>Performance Target   (Key Metrics)</a:t>
            </a:r>
          </a:p>
          <a:p>
            <a:pPr marL="0" indent="0">
              <a:spcBef>
                <a:spcPts val="0"/>
              </a:spcBef>
              <a:spcAft>
                <a:spcPts val="0"/>
              </a:spcAft>
              <a:buNone/>
            </a:pPr>
            <a:endParaRPr lang="en-US" sz="1900" b="1" dirty="0">
              <a:solidFill>
                <a:srgbClr val="0F172A"/>
              </a:solidFill>
              <a:latin typeface="Poppins" panose="00000500000000000000" pitchFamily="2" charset="0"/>
            </a:endParaRPr>
          </a:p>
          <a:p>
            <a:pPr>
              <a:buClr>
                <a:schemeClr val="accent2"/>
              </a:buClr>
              <a:buFont typeface="Arial" panose="020B0604020202020204" pitchFamily="34" charset="0"/>
              <a:buChar char="•"/>
            </a:pPr>
            <a:r>
              <a:rPr lang="en-US" sz="1900" dirty="0"/>
              <a:t>Scale the overall baseline conversion rate from 24% to 28%.</a:t>
            </a:r>
          </a:p>
          <a:p>
            <a:pPr>
              <a:buClr>
                <a:schemeClr val="accent2"/>
              </a:buClr>
              <a:buFont typeface="Arial" panose="020B0604020202020204" pitchFamily="34" charset="0"/>
              <a:buChar char="•"/>
            </a:pPr>
            <a:r>
              <a:rPr lang="en-US" sz="1900" dirty="0"/>
              <a:t>Ensures the business maintains its steady 18%year-over-year revenue trajectory, targeting a gross profit milestone of 1.5 M next fiscal year.</a:t>
            </a:r>
          </a:p>
          <a:p>
            <a:endParaRPr lang="en-US" sz="1600" dirty="0"/>
          </a:p>
          <a:p>
            <a:endParaRPr lang="en-US" b="0" dirty="0">
              <a:effectLst/>
            </a:endParaRPr>
          </a:p>
        </p:txBody>
      </p:sp>
      <p:sp>
        <p:nvSpPr>
          <p:cNvPr id="11" name="Content Placeholder 6">
            <a:extLst>
              <a:ext uri="{FF2B5EF4-FFF2-40B4-BE49-F238E27FC236}">
                <a16:creationId xmlns:a16="http://schemas.microsoft.com/office/drawing/2014/main" id="{04E7BB41-131B-453A-81F2-6DA14DCD7027}"/>
              </a:ext>
            </a:extLst>
          </p:cNvPr>
          <p:cNvSpPr txBox="1">
            <a:spLocks/>
          </p:cNvSpPr>
          <p:nvPr/>
        </p:nvSpPr>
        <p:spPr>
          <a:xfrm>
            <a:off x="207477" y="2286000"/>
            <a:ext cx="2837757" cy="4023360"/>
          </a:xfrm>
          <a:prstGeom prst="rect">
            <a:avLst/>
          </a:prstGeom>
          <a:ln w="12700">
            <a:solidFill>
              <a:schemeClr val="accent1">
                <a:lumMod val="75000"/>
              </a:schemeClr>
            </a:solidFill>
          </a:ln>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pPr>
              <a:buClr>
                <a:schemeClr val="accent2"/>
              </a:buClr>
              <a:buFont typeface="Wingdings" panose="05000000000000000000" pitchFamily="2" charset="2"/>
              <a:buChar char="q"/>
            </a:pPr>
            <a:r>
              <a:rPr lang="en-US" sz="1950" b="1" dirty="0"/>
              <a:t>Inventory Optimization (Supply Chain)</a:t>
            </a:r>
          </a:p>
          <a:p>
            <a:pPr marL="0" indent="0">
              <a:spcBef>
                <a:spcPts val="0"/>
              </a:spcBef>
              <a:spcAft>
                <a:spcPts val="0"/>
              </a:spcAft>
              <a:buNone/>
            </a:pPr>
            <a:endParaRPr lang="en-US" sz="1800" b="1" dirty="0">
              <a:solidFill>
                <a:srgbClr val="0F172A"/>
              </a:solidFill>
              <a:latin typeface="Poppins" panose="00000500000000000000" pitchFamily="2" charset="0"/>
            </a:endParaRPr>
          </a:p>
          <a:p>
            <a:pPr>
              <a:buFont typeface="Arial" panose="020B0604020202020204" pitchFamily="34" charset="0"/>
              <a:buChar char="•"/>
            </a:pPr>
            <a:r>
              <a:rPr lang="en-US" sz="1900" dirty="0"/>
              <a:t>Deploy a predictive, data-driven models.</a:t>
            </a:r>
          </a:p>
          <a:p>
            <a:pPr>
              <a:buClr>
                <a:schemeClr val="accent2"/>
              </a:buClr>
              <a:buFont typeface="Arial" panose="020B0604020202020204" pitchFamily="34" charset="0"/>
              <a:buChar char="•"/>
            </a:pPr>
            <a:r>
              <a:rPr lang="en-US" sz="1900" dirty="0"/>
              <a:t>That will help us eliminate the 12% empty stock rate found in the North Zone and decreases warehouse holding costs by aligning inventory with seasonal sales spikes.</a:t>
            </a:r>
          </a:p>
        </p:txBody>
      </p:sp>
      <p:sp>
        <p:nvSpPr>
          <p:cNvPr id="12" name="Content Placeholder 6">
            <a:extLst>
              <a:ext uri="{FF2B5EF4-FFF2-40B4-BE49-F238E27FC236}">
                <a16:creationId xmlns:a16="http://schemas.microsoft.com/office/drawing/2014/main" id="{D64000A8-D42D-43EF-B60B-05F7086DA2A7}"/>
              </a:ext>
            </a:extLst>
          </p:cNvPr>
          <p:cNvSpPr txBox="1">
            <a:spLocks/>
          </p:cNvSpPr>
          <p:nvPr/>
        </p:nvSpPr>
        <p:spPr>
          <a:xfrm>
            <a:off x="3202826" y="2286000"/>
            <a:ext cx="2837756" cy="4023360"/>
          </a:xfrm>
          <a:prstGeom prst="rect">
            <a:avLst/>
          </a:prstGeom>
          <a:ln w="12700">
            <a:solidFill>
              <a:schemeClr val="accent1">
                <a:lumMod val="75000"/>
              </a:schemeClr>
            </a:solidFill>
          </a:ln>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pPr>
              <a:buClr>
                <a:schemeClr val="accent2"/>
              </a:buClr>
              <a:buFont typeface="Wingdings" panose="05000000000000000000" pitchFamily="2" charset="2"/>
              <a:buChar char="q"/>
            </a:pPr>
            <a:r>
              <a:rPr lang="en-US" sz="1950" b="1" dirty="0"/>
              <a:t>Sales &amp; Channel Growth (Revenue)</a:t>
            </a:r>
          </a:p>
          <a:p>
            <a:pPr marL="0" indent="0">
              <a:spcBef>
                <a:spcPts val="0"/>
              </a:spcBef>
              <a:spcAft>
                <a:spcPts val="0"/>
              </a:spcAft>
              <a:buNone/>
            </a:pPr>
            <a:endParaRPr lang="en-US" sz="1800" b="1" dirty="0">
              <a:solidFill>
                <a:srgbClr val="0F172A"/>
              </a:solidFill>
              <a:latin typeface="Poppins" panose="00000500000000000000" pitchFamily="2" charset="0"/>
            </a:endParaRPr>
          </a:p>
          <a:p>
            <a:pPr>
              <a:buClr>
                <a:schemeClr val="accent2"/>
              </a:buClr>
              <a:buFont typeface="Arial" panose="020B0604020202020204" pitchFamily="34" charset="0"/>
              <a:buChar char="•"/>
            </a:pPr>
            <a:r>
              <a:rPr lang="en-US" sz="1900" dirty="0"/>
              <a:t>Reallocate 20% of the perimeter space to high-ROI Items display.</a:t>
            </a:r>
          </a:p>
          <a:p>
            <a:pPr>
              <a:buClr>
                <a:schemeClr val="accent2"/>
              </a:buClr>
              <a:buFont typeface="Arial" panose="020B0604020202020204" pitchFamily="34" charset="0"/>
              <a:buChar char="•"/>
            </a:pPr>
            <a:r>
              <a:rPr lang="en-US" sz="1900" dirty="0"/>
              <a:t>Capitalizes on the 3xreturn on investment observed in key traffic Zones, converting foot traffic more efficiently.</a:t>
            </a:r>
          </a:p>
        </p:txBody>
      </p:sp>
      <p:sp>
        <p:nvSpPr>
          <p:cNvPr id="13" name="Arrow: Right 12">
            <a:hlinkClick r:id="rId2" action="ppaction://hlinksldjump"/>
            <a:extLst>
              <a:ext uri="{FF2B5EF4-FFF2-40B4-BE49-F238E27FC236}">
                <a16:creationId xmlns:a16="http://schemas.microsoft.com/office/drawing/2014/main" id="{C50F2580-BC93-4A1F-864A-D76C262D14EE}"/>
              </a:ext>
            </a:extLst>
          </p:cNvPr>
          <p:cNvSpPr/>
          <p:nvPr/>
        </p:nvSpPr>
        <p:spPr>
          <a:xfrm>
            <a:off x="8533015" y="6367552"/>
            <a:ext cx="411480" cy="384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hlinkClick r:id="rId3" action="ppaction://hlinksldjump" highlightClick="1"/>
            <a:extLst>
              <a:ext uri="{FF2B5EF4-FFF2-40B4-BE49-F238E27FC236}">
                <a16:creationId xmlns:a16="http://schemas.microsoft.com/office/drawing/2014/main" id="{EBD15FD8-92D8-49B2-A819-2AA11BBD1282}"/>
              </a:ext>
            </a:extLst>
          </p:cNvPr>
          <p:cNvSpPr/>
          <p:nvPr/>
        </p:nvSpPr>
        <p:spPr>
          <a:xfrm rot="10800000">
            <a:off x="152124" y="6367552"/>
            <a:ext cx="410649" cy="3823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4248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24B55E-C989-4934-B31C-539791E19DA8}"/>
              </a:ext>
            </a:extLst>
          </p:cNvPr>
          <p:cNvSpPr>
            <a:spLocks noGrp="1"/>
          </p:cNvSpPr>
          <p:nvPr>
            <p:ph type="title"/>
          </p:nvPr>
        </p:nvSpPr>
        <p:spPr>
          <a:xfrm>
            <a:off x="768096" y="352460"/>
            <a:ext cx="7290054" cy="2590246"/>
          </a:xfrm>
          <a:ln>
            <a:solidFill>
              <a:schemeClr val="accent1"/>
            </a:solidFill>
          </a:ln>
          <a:effectLst>
            <a:glow rad="63500">
              <a:schemeClr val="accent6">
                <a:satMod val="175000"/>
                <a:alpha val="40000"/>
              </a:schemeClr>
            </a:glow>
          </a:effectLst>
        </p:spPr>
        <p:txBody>
          <a:bodyPr>
            <a:normAutofit/>
          </a:bodyPr>
          <a:lstStyle/>
          <a:p>
            <a:pPr algn="ctr">
              <a:spcBef>
                <a:spcPts val="0"/>
              </a:spcBef>
            </a:pPr>
            <a:r>
              <a:rPr lang="en-US" sz="8000" b="1" dirty="0">
                <a:solidFill>
                  <a:srgbClr val="1E3A8A"/>
                </a:solidFill>
                <a:latin typeface="Poppins" panose="00000500000000000000" pitchFamily="2" charset="0"/>
              </a:rPr>
              <a:t>Q&amp;A</a:t>
            </a:r>
            <a:endParaRPr lang="en-US" sz="8000" dirty="0"/>
          </a:p>
        </p:txBody>
      </p:sp>
      <p:sp>
        <p:nvSpPr>
          <p:cNvPr id="6" name="Content Placeholder 5">
            <a:extLst>
              <a:ext uri="{FF2B5EF4-FFF2-40B4-BE49-F238E27FC236}">
                <a16:creationId xmlns:a16="http://schemas.microsoft.com/office/drawing/2014/main" id="{36620EE0-09B2-4469-BF6C-4F243709454D}"/>
              </a:ext>
            </a:extLst>
          </p:cNvPr>
          <p:cNvSpPr>
            <a:spLocks noGrp="1"/>
          </p:cNvSpPr>
          <p:nvPr>
            <p:ph idx="1"/>
          </p:nvPr>
        </p:nvSpPr>
        <p:spPr>
          <a:xfrm>
            <a:off x="768100" y="3333408"/>
            <a:ext cx="7290055" cy="1936865"/>
          </a:xfrm>
        </p:spPr>
        <p:txBody>
          <a:bodyPr>
            <a:normAutofit fontScale="92500" lnSpcReduction="10000"/>
          </a:bodyPr>
          <a:lstStyle/>
          <a:p>
            <a:pPr algn="ctr">
              <a:spcBef>
                <a:spcPts val="0"/>
              </a:spcBef>
              <a:spcAft>
                <a:spcPts val="0"/>
              </a:spcAft>
            </a:pPr>
            <a:endParaRPr lang="en-US" sz="1800" dirty="0">
              <a:solidFill>
                <a:srgbClr val="64748B"/>
              </a:solidFill>
              <a:latin typeface="Lato" panose="020F0502020204030203" pitchFamily="34" charset="0"/>
            </a:endParaRPr>
          </a:p>
          <a:p>
            <a:pPr algn="ctr">
              <a:spcBef>
                <a:spcPts val="0"/>
              </a:spcBef>
              <a:spcAft>
                <a:spcPts val="0"/>
              </a:spcAft>
            </a:pPr>
            <a:r>
              <a:rPr lang="en-US" sz="3000" dirty="0">
                <a:solidFill>
                  <a:srgbClr val="64748B"/>
                </a:solidFill>
                <a:latin typeface="Lato" panose="020F0502020204030203" pitchFamily="34" charset="0"/>
              </a:rPr>
              <a:t>Thank you for your attention!</a:t>
            </a:r>
            <a:endParaRPr lang="en-US" sz="3500" dirty="0"/>
          </a:p>
          <a:p>
            <a:pPr algn="ctr">
              <a:spcBef>
                <a:spcPts val="0"/>
              </a:spcBef>
              <a:spcAft>
                <a:spcPts val="0"/>
              </a:spcAft>
            </a:pPr>
            <a:br>
              <a:rPr lang="en-US" dirty="0"/>
            </a:br>
            <a:r>
              <a:rPr lang="en-US" sz="1800" dirty="0">
                <a:solidFill>
                  <a:srgbClr val="94A3B8"/>
                </a:solidFill>
                <a:latin typeface="Lato" panose="020F0502020204030203" pitchFamily="34" charset="0"/>
              </a:rPr>
              <a:t>Mohamed Rahmo | Sarah Ahmed | Zainab Ayman | Mostafa </a:t>
            </a:r>
            <a:r>
              <a:rPr lang="en-US" sz="1800" dirty="0" err="1">
                <a:solidFill>
                  <a:srgbClr val="94A3B8"/>
                </a:solidFill>
                <a:latin typeface="Lato" panose="020F0502020204030203" pitchFamily="34" charset="0"/>
              </a:rPr>
              <a:t>Abdeen</a:t>
            </a:r>
            <a:r>
              <a:rPr lang="en-US" sz="1800" dirty="0">
                <a:solidFill>
                  <a:srgbClr val="94A3B8"/>
                </a:solidFill>
                <a:latin typeface="Lato" panose="020F0502020204030203" pitchFamily="34" charset="0"/>
              </a:rPr>
              <a:t> | Mohamed </a:t>
            </a:r>
            <a:r>
              <a:rPr lang="en-US" sz="1800" dirty="0" err="1">
                <a:solidFill>
                  <a:srgbClr val="94A3B8"/>
                </a:solidFill>
                <a:latin typeface="Lato" panose="020F0502020204030203" pitchFamily="34" charset="0"/>
              </a:rPr>
              <a:t>khaled</a:t>
            </a:r>
            <a:endParaRPr lang="en-US" b="0" dirty="0">
              <a:effectLst/>
            </a:endParaRPr>
          </a:p>
          <a:p>
            <a:br>
              <a:rPr lang="en-US" dirty="0"/>
            </a:br>
            <a:endParaRPr lang="en-US" dirty="0"/>
          </a:p>
        </p:txBody>
      </p:sp>
    </p:spTree>
    <p:extLst>
      <p:ext uri="{BB962C8B-B14F-4D97-AF65-F5344CB8AC3E}">
        <p14:creationId xmlns:p14="http://schemas.microsoft.com/office/powerpoint/2010/main" val="39154615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TM04033925[[fn=Droplet]]</Template>
  <TotalTime>13263</TotalTime>
  <Words>934</Words>
  <Application>Microsoft Office PowerPoint</Application>
  <PresentationFormat>On-screen Show (4:3)</PresentationFormat>
  <Paragraphs>105</Paragraphs>
  <Slides>16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vt:lpstr>
      <vt:lpstr>Calibri</vt:lpstr>
      <vt:lpstr>Lato</vt:lpstr>
      <vt:lpstr>Poppins</vt:lpstr>
      <vt:lpstr>Times New Roman</vt:lpstr>
      <vt:lpstr>Tw Cen MT</vt:lpstr>
      <vt:lpstr>Tw Cen MT Condensed</vt:lpstr>
      <vt:lpstr>Wingdings</vt:lpstr>
      <vt:lpstr>Wingdings 3</vt:lpstr>
      <vt:lpstr>Integral</vt:lpstr>
      <vt:lpstr>PowerPoint Presentation</vt:lpstr>
      <vt:lpstr>Project Team Members</vt:lpstr>
      <vt:lpstr>Apps &amp; Tools Used</vt:lpstr>
      <vt:lpstr>Cleaning PROCESES &amp; Source</vt:lpstr>
      <vt:lpstr>Analytical Questions Answered</vt:lpstr>
      <vt:lpstr>Performance OVERVIEW</vt:lpstr>
      <vt:lpstr>EXCEL</vt:lpstr>
      <vt:lpstr>EXCEL</vt:lpstr>
      <vt:lpstr>EXCEL</vt:lpstr>
      <vt:lpstr>Sql sERVER</vt:lpstr>
      <vt:lpstr>Python</vt:lpstr>
      <vt:lpstr>Tableu</vt:lpstr>
      <vt:lpstr>Tableu</vt:lpstr>
      <vt:lpstr>PowerBI</vt:lpstr>
      <vt:lpstr>STRATEGIC ROADMAP</vt:lpstr>
      <vt:lpstr>Q&amp;A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Zone Store Analysis</dc:title>
  <dc:subject/>
  <dc:creator/>
  <cp:keywords/>
  <dc:description>generated using python-pptx</dc:description>
  <cp:lastModifiedBy>mohmaed ahmed mohamed rahmo</cp:lastModifiedBy>
  <cp:revision>53</cp:revision>
  <dcterms:created xsi:type="dcterms:W3CDTF">2013-01-27T09:14:16Z</dcterms:created>
  <dcterms:modified xsi:type="dcterms:W3CDTF">2026-05-22T22:01:52Z</dcterms:modified>
  <cp:category/>
</cp:coreProperties>
</file>